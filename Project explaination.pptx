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5" r:id="rId10"/>
    <p:sldId id="264"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hul Rehman" initials="RR" lastIdx="1" clrIdx="0">
    <p:extLst>
      <p:ext uri="{19B8F6BF-5375-455C-9EA6-DF929625EA0E}">
        <p15:presenceInfo xmlns:p15="http://schemas.microsoft.com/office/powerpoint/2012/main" userId="S::rahul.rehman.7353@student.uu.se::f785e217-fc0e-47d0-bb5d-c9b37aa9f4d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717"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C7FD-635E-812D-F229-8B36EC3F20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656292-D1EE-CF1A-27E0-20F4ABF57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42C40E-2F76-A4CA-B5F4-04B8CF03D353}"/>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5E9C7240-7798-7D2A-EADD-9840E7EE0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D2407-6FAB-1611-19FC-510461E8A50A}"/>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2393600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23592-D13B-7D4F-6F57-99799EE8E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6C872-D5C3-F305-D734-2363DF9BD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7E0CA-C803-D842-2F42-B3662526F9E2}"/>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A53C0647-B733-DD76-F710-B874054F84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84132-CD4C-02C1-513E-F6C24CB3A2B5}"/>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1193205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3A5A-C537-F5BD-5A8E-0C664F6FDD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B05277-5450-D209-AB83-E691385013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E919A0-3572-F422-32FF-28890657B78F}"/>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D92E1FCC-2988-61CB-5BAA-7F33211FC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A572DB-C42E-D198-AD6E-D43A50E61F36}"/>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799996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538A-62FD-E79B-D038-DEDAA6E4EB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BD679D-4112-62E7-F549-0DC5D61EDA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E9846F-78D7-C399-68C7-4C4657566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4DA1DE-80C0-7EE0-714D-09F8C42DCCAD}"/>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6" name="Footer Placeholder 5">
            <a:extLst>
              <a:ext uri="{FF2B5EF4-FFF2-40B4-BE49-F238E27FC236}">
                <a16:creationId xmlns:a16="http://schemas.microsoft.com/office/drawing/2014/main" id="{650D6339-9697-4391-96DE-82278A70D0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62B7FD-C314-E579-10C8-A25D65F1308C}"/>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2004610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1FC1A-2927-8AD0-1AFE-EBD683E58F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717617-7D9F-1263-163F-CDCEEA411B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498729-5371-F3C8-E781-C8A0231A7A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1F4BF5-3ECE-BB6E-0DBE-84CE509A52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B5A9ED-0594-1BE6-8B9E-5ED91FE0AA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30CC6B-4007-CC19-0FA9-CA0F7D1871FA}"/>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8" name="Footer Placeholder 7">
            <a:extLst>
              <a:ext uri="{FF2B5EF4-FFF2-40B4-BE49-F238E27FC236}">
                <a16:creationId xmlns:a16="http://schemas.microsoft.com/office/drawing/2014/main" id="{CC2EEEE9-0CE7-FB64-ADD8-873B2504AE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44683A-F08C-DAEA-E5F0-028C02C3788C}"/>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391262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8DCCC-0511-E192-0304-903045300A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DCE481-8C9C-193F-0901-5EC019D82EF6}"/>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4" name="Footer Placeholder 3">
            <a:extLst>
              <a:ext uri="{FF2B5EF4-FFF2-40B4-BE49-F238E27FC236}">
                <a16:creationId xmlns:a16="http://schemas.microsoft.com/office/drawing/2014/main" id="{6427E7A8-4946-992E-EE79-0ECB4B99DB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9FBC34-7B27-322C-DE12-3E61613A8532}"/>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1751703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D67716-8C3E-B1AE-41BC-EFE694A307D9}"/>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3" name="Footer Placeholder 2">
            <a:extLst>
              <a:ext uri="{FF2B5EF4-FFF2-40B4-BE49-F238E27FC236}">
                <a16:creationId xmlns:a16="http://schemas.microsoft.com/office/drawing/2014/main" id="{1CD351C7-2E97-5066-393A-66B66BD14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01BB9E-77C1-FA43-C2C6-E6251EEFDF25}"/>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2743944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AA0B-D3A6-8F0B-CD10-610C4B8F3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46AE9-6702-85AC-290C-59BA5F69F7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1C7BD2-6A3B-839A-E730-593D86E0F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39D73-50D3-FDA6-68B2-7FE212592B0E}"/>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6" name="Footer Placeholder 5">
            <a:extLst>
              <a:ext uri="{FF2B5EF4-FFF2-40B4-BE49-F238E27FC236}">
                <a16:creationId xmlns:a16="http://schemas.microsoft.com/office/drawing/2014/main" id="{24CE167D-44E8-A4C9-2E2C-E655012692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A68BE-CBE1-D145-50D2-D6C321B4C81C}"/>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176156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0F373-0ED8-826F-071E-160CC0DEC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94CDF1-02D8-345B-BABA-6EEFA14DD0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4AF023-C90D-3F65-9D27-AECACAA6C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2DB17-93AF-72C3-3325-4DBC8F4649E7}"/>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6" name="Footer Placeholder 5">
            <a:extLst>
              <a:ext uri="{FF2B5EF4-FFF2-40B4-BE49-F238E27FC236}">
                <a16:creationId xmlns:a16="http://schemas.microsoft.com/office/drawing/2014/main" id="{6BBE3F62-17F7-2A9F-D3A1-30C9F9A4AC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EB5ECF-3325-2CA3-3862-65127602057C}"/>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3618601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B3DC-5F0C-AE16-609D-4C8376C5E1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1578E9-7DC9-4FEE-1E57-9434486BE7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0D2FF-996E-2C5D-863A-9C5B43A36739}"/>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2A5F1355-CAAE-932B-8CCA-7DFDD22D1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CEC0A-C007-5249-2381-D3AE4442BF69}"/>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407769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7FB75-3CDC-D14C-04B5-BA3873BC29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CB99C1-E8F1-B2FC-51CD-21918DA373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14167-F6C9-EA91-B052-7EF55043671A}"/>
              </a:ext>
            </a:extLst>
          </p:cNvPr>
          <p:cNvSpPr>
            <a:spLocks noGrp="1"/>
          </p:cNvSpPr>
          <p:nvPr>
            <p:ph type="dt" sz="half" idx="10"/>
          </p:nvPr>
        </p:nvSpPr>
        <p:spPr/>
        <p:txBody>
          <a:body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F921273C-F87B-898F-6011-C26CAC7BB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CF5BE-8FF5-5A5E-DFAF-42108C9D78D9}"/>
              </a:ext>
            </a:extLst>
          </p:cNvPr>
          <p:cNvSpPr>
            <a:spLocks noGrp="1"/>
          </p:cNvSpPr>
          <p:nvPr>
            <p:ph type="sldNum" sz="quarter" idx="12"/>
          </p:nvPr>
        </p:nvSpPr>
        <p:spPr/>
        <p:txBody>
          <a:bodyPr/>
          <a:lstStyle/>
          <a:p>
            <a:fld id="{0DDBD50A-F929-4BBB-A210-C7892CEBCB39}" type="slidenum">
              <a:rPr lang="en-US" smtClean="0"/>
              <a:t>‹#›</a:t>
            </a:fld>
            <a:endParaRPr lang="en-US"/>
          </a:p>
        </p:txBody>
      </p:sp>
    </p:spTree>
    <p:extLst>
      <p:ext uri="{BB962C8B-B14F-4D97-AF65-F5344CB8AC3E}">
        <p14:creationId xmlns:p14="http://schemas.microsoft.com/office/powerpoint/2010/main" val="3317148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75">
          <a:fgClr>
            <a:schemeClr val="bg1"/>
          </a:fgClr>
          <a:bgClr>
            <a:schemeClr val="accent2">
              <a:lumMod val="40000"/>
              <a:lumOff val="60000"/>
            </a:schemeClr>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1C671D-C292-448B-C673-0AE8CB224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749F4B-62BC-DD3F-A514-F512A51E8D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B0B83-68AF-A18B-5F4B-201F2BB14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5429-CA3C-43DB-BABB-5A328028DB5B}" type="datetimeFigureOut">
              <a:rPr lang="en-US" smtClean="0"/>
              <a:t>9/13/2026</a:t>
            </a:fld>
            <a:endParaRPr lang="en-US"/>
          </a:p>
        </p:txBody>
      </p:sp>
      <p:sp>
        <p:nvSpPr>
          <p:cNvPr id="5" name="Footer Placeholder 4">
            <a:extLst>
              <a:ext uri="{FF2B5EF4-FFF2-40B4-BE49-F238E27FC236}">
                <a16:creationId xmlns:a16="http://schemas.microsoft.com/office/drawing/2014/main" id="{1EA9CC6C-013A-5DB8-5EFF-5EEA1DCDBB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010253-2CDC-D569-BFA0-1EA8D8740B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DBD50A-F929-4BBB-A210-C7892CEBCB39}" type="slidenum">
              <a:rPr lang="en-US" smtClean="0"/>
              <a:t>‹#›</a:t>
            </a:fld>
            <a:endParaRPr lang="en-US"/>
          </a:p>
        </p:txBody>
      </p:sp>
    </p:spTree>
    <p:extLst>
      <p:ext uri="{BB962C8B-B14F-4D97-AF65-F5344CB8AC3E}">
        <p14:creationId xmlns:p14="http://schemas.microsoft.com/office/powerpoint/2010/main" val="421904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ederalreserve.gov/datadownload/Choose.aspx?rel=H10" TargetMode="External"/><Relationship Id="rId2" Type="http://schemas.openxmlformats.org/officeDocument/2006/relationships/hyperlink" Target="https://www.investing.com/currencies/xau-sek-historical-data"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hyperlink" Target="https://fred.stlouisfed.org/series/DEXSDU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8.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F9169D09-E9B1-A569-8782-790414FEFDFF}"/>
              </a:ext>
            </a:extLst>
          </p:cNvPr>
          <p:cNvSpPr>
            <a:spLocks noGrp="1"/>
          </p:cNvSpPr>
          <p:nvPr>
            <p:ph type="ctrTitle"/>
          </p:nvPr>
        </p:nvSpPr>
        <p:spPr>
          <a:xfrm>
            <a:off x="1524000" y="662474"/>
            <a:ext cx="9144000" cy="812142"/>
          </a:xfrm>
        </p:spPr>
        <p:txBody>
          <a:bodyPr>
            <a:noAutofit/>
          </a:bodyPr>
          <a:lstStyle/>
          <a:p>
            <a:pPr algn="l"/>
            <a:r>
              <a:rPr lang="en-US" sz="2400" dirty="0">
                <a:solidFill>
                  <a:schemeClr val="accent1">
                    <a:lumMod val="50000"/>
                  </a:schemeClr>
                </a:solidFill>
                <a:latin typeface="Candara" panose="020E0502030303020204" pitchFamily="34" charset="0"/>
                <a:ea typeface="Cambria" panose="02040503050406030204" pitchFamily="18" charset="0"/>
              </a:rPr>
              <a:t>Financial Analytics using SQL: Trend Detection, Correlation Analysis, and Exchange Rate Forecasting</a:t>
            </a:r>
          </a:p>
        </p:txBody>
      </p:sp>
      <p:sp>
        <p:nvSpPr>
          <p:cNvPr id="3" name="Subtitle 2">
            <a:extLst>
              <a:ext uri="{FF2B5EF4-FFF2-40B4-BE49-F238E27FC236}">
                <a16:creationId xmlns:a16="http://schemas.microsoft.com/office/drawing/2014/main" id="{45365BAD-06B7-B3DA-58A8-DC46231D3E30}"/>
              </a:ext>
            </a:extLst>
          </p:cNvPr>
          <p:cNvSpPr>
            <a:spLocks noGrp="1"/>
          </p:cNvSpPr>
          <p:nvPr>
            <p:ph type="subTitle" idx="1"/>
          </p:nvPr>
        </p:nvSpPr>
        <p:spPr>
          <a:xfrm>
            <a:off x="1524000" y="2818614"/>
            <a:ext cx="3221736" cy="2439185"/>
          </a:xfrm>
        </p:spPr>
        <p:txBody>
          <a:bodyPr>
            <a:normAutofit/>
          </a:bodyPr>
          <a:lstStyle/>
          <a:p>
            <a:pPr algn="l"/>
            <a:r>
              <a:rPr lang="en-US" sz="1400" dirty="0">
                <a:latin typeface="Candara" panose="020E0502030303020204" pitchFamily="34" charset="0"/>
                <a:ea typeface="Calibri Light" panose="020F0302020204030204" pitchFamily="34" charset="0"/>
                <a:cs typeface="Calibri Light" panose="020F0302020204030204" pitchFamily="34" charset="0"/>
              </a:rPr>
              <a:t>Using a small-scale time-series dataset, this project investigates trends in spot gold prices, the USD Index (DXY), and the USD to SEK exchange rate through exploratory SQL-based financial analytics.</a:t>
            </a:r>
          </a:p>
        </p:txBody>
      </p:sp>
      <p:pic>
        <p:nvPicPr>
          <p:cNvPr id="6" name="Picture 5" descr="The Accommodative Stance of RBI for Real Estate: Unchanged ...">
            <a:extLst>
              <a:ext uri="{FF2B5EF4-FFF2-40B4-BE49-F238E27FC236}">
                <a16:creationId xmlns:a16="http://schemas.microsoft.com/office/drawing/2014/main" id="{CF69BA5E-E574-3B40-D720-D7BB40A764CD}"/>
              </a:ext>
            </a:extLst>
          </p:cNvPr>
          <p:cNvPicPr>
            <a:picLocks noChangeAspect="1"/>
          </p:cNvPicPr>
          <p:nvPr/>
        </p:nvPicPr>
        <p:blipFill>
          <a:blip r:embed="rId2"/>
          <a:stretch>
            <a:fillRect/>
          </a:stretch>
        </p:blipFill>
        <p:spPr>
          <a:xfrm>
            <a:off x="5806911" y="2274478"/>
            <a:ext cx="4861089" cy="3108907"/>
          </a:xfrm>
          <a:prstGeom prst="rect">
            <a:avLst/>
          </a:prstGeom>
        </p:spPr>
      </p:pic>
    </p:spTree>
    <p:extLst>
      <p:ext uri="{BB962C8B-B14F-4D97-AF65-F5344CB8AC3E}">
        <p14:creationId xmlns:p14="http://schemas.microsoft.com/office/powerpoint/2010/main" val="218661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231FE-FF1E-E8A9-69BA-44650E237216}"/>
              </a:ext>
            </a:extLst>
          </p:cNvPr>
          <p:cNvSpPr>
            <a:spLocks noGrp="1"/>
          </p:cNvSpPr>
          <p:nvPr>
            <p:ph type="title"/>
          </p:nvPr>
        </p:nvSpPr>
        <p:spPr>
          <a:xfrm>
            <a:off x="838200" y="365126"/>
            <a:ext cx="10515600" cy="700104"/>
          </a:xfrm>
        </p:spPr>
        <p:txBody>
          <a:bodyPr>
            <a:normAutofit/>
          </a:bodyPr>
          <a:lstStyle/>
          <a:p>
            <a:r>
              <a:rPr lang="en-US" sz="1800" dirty="0">
                <a:solidFill>
                  <a:schemeClr val="accent1">
                    <a:lumMod val="50000"/>
                  </a:schemeClr>
                </a:solidFill>
                <a:latin typeface="Candara" panose="020E0502030303020204" pitchFamily="34" charset="0"/>
                <a:ea typeface="Cambria" panose="02040503050406030204" pitchFamily="18" charset="0"/>
              </a:rPr>
              <a:t>Source of data</a:t>
            </a:r>
          </a:p>
        </p:txBody>
      </p:sp>
      <p:sp>
        <p:nvSpPr>
          <p:cNvPr id="3" name="Content Placeholder 2">
            <a:extLst>
              <a:ext uri="{FF2B5EF4-FFF2-40B4-BE49-F238E27FC236}">
                <a16:creationId xmlns:a16="http://schemas.microsoft.com/office/drawing/2014/main" id="{B591D75D-3AE2-D461-31B6-60B78DDF113D}"/>
              </a:ext>
            </a:extLst>
          </p:cNvPr>
          <p:cNvSpPr>
            <a:spLocks noGrp="1"/>
          </p:cNvSpPr>
          <p:nvPr>
            <p:ph idx="1"/>
          </p:nvPr>
        </p:nvSpPr>
        <p:spPr>
          <a:xfrm>
            <a:off x="838200" y="1065230"/>
            <a:ext cx="10515600" cy="5111733"/>
          </a:xfrm>
        </p:spPr>
        <p:txBody>
          <a:bodyPr/>
          <a:lstStyle/>
          <a:p>
            <a:pPr marL="0" indent="0">
              <a:buNone/>
            </a:pPr>
            <a:r>
              <a:rPr lang="en-US" sz="1400" dirty="0" err="1">
                <a:latin typeface="Candara" panose="020E0502030303020204" pitchFamily="34" charset="0"/>
              </a:rPr>
              <a:t>Datewise</a:t>
            </a:r>
            <a:r>
              <a:rPr lang="en-US" sz="1400" dirty="0">
                <a:latin typeface="Candara" panose="020E0502030303020204" pitchFamily="34" charset="0"/>
              </a:rPr>
              <a:t> data were picked up on 3 following indices from 01.01.2024 to 31.05.2026.</a:t>
            </a:r>
          </a:p>
          <a:p>
            <a:pPr>
              <a:buFontTx/>
              <a:buChar char="-"/>
            </a:pPr>
            <a:r>
              <a:rPr lang="en-US" sz="1400" dirty="0">
                <a:latin typeface="Candara" panose="020E0502030303020204" pitchFamily="34" charset="0"/>
              </a:rPr>
              <a:t>XAU/SEK - Gold Spot Swedish Krona [price of 1 troy ounce of pure gold. 1 troy ounce = 31.1035 grams]</a:t>
            </a:r>
          </a:p>
          <a:p>
            <a:pPr marL="0" indent="0">
              <a:spcBef>
                <a:spcPts val="0"/>
              </a:spcBef>
              <a:buNone/>
            </a:pPr>
            <a:r>
              <a:rPr lang="en-US" sz="1400" dirty="0">
                <a:latin typeface="Candara" panose="020E0502030303020204" pitchFamily="34" charset="0"/>
              </a:rPr>
              <a:t>     Denoted by “</a:t>
            </a:r>
            <a:r>
              <a:rPr lang="en-US" sz="1400" dirty="0" err="1">
                <a:latin typeface="Candara" panose="020E0502030303020204" pitchFamily="34" charset="0"/>
              </a:rPr>
              <a:t>gold_price</a:t>
            </a:r>
            <a:r>
              <a:rPr lang="en-US" sz="1400" dirty="0">
                <a:latin typeface="Candara" panose="020E0502030303020204" pitchFamily="34" charset="0"/>
              </a:rPr>
              <a:t>”</a:t>
            </a:r>
          </a:p>
          <a:p>
            <a:pPr marL="0" indent="0">
              <a:spcBef>
                <a:spcPts val="0"/>
              </a:spcBef>
              <a:buNone/>
            </a:pPr>
            <a:r>
              <a:rPr lang="en-US" sz="1400" dirty="0">
                <a:latin typeface="Candara" panose="020E0502030303020204" pitchFamily="34" charset="0"/>
              </a:rPr>
              <a:t>      Source: </a:t>
            </a:r>
            <a:r>
              <a:rPr lang="en-US" sz="1400" dirty="0">
                <a:solidFill>
                  <a:schemeClr val="accent1">
                    <a:lumMod val="50000"/>
                  </a:schemeClr>
                </a:solidFill>
                <a:latin typeface="Candara" panose="020E0502030303020204" pitchFamily="34" charset="0"/>
                <a:hlinkClick r:id="rId2"/>
              </a:rPr>
              <a:t>https://www.investing.com/currencies/xau-sek-historical-data</a:t>
            </a:r>
            <a:endParaRPr lang="en-US" sz="1400" dirty="0">
              <a:solidFill>
                <a:schemeClr val="accent1">
                  <a:lumMod val="50000"/>
                </a:schemeClr>
              </a:solidFill>
              <a:latin typeface="Candara" panose="020E0502030303020204" pitchFamily="34" charset="0"/>
            </a:endParaRPr>
          </a:p>
          <a:p>
            <a:pPr marL="0" indent="0">
              <a:spcBef>
                <a:spcPts val="0"/>
              </a:spcBef>
              <a:buNone/>
            </a:pPr>
            <a:endParaRPr lang="en-US" sz="1400" dirty="0">
              <a:solidFill>
                <a:schemeClr val="accent1">
                  <a:lumMod val="50000"/>
                </a:schemeClr>
              </a:solidFill>
              <a:latin typeface="Candara" panose="020E0502030303020204" pitchFamily="34" charset="0"/>
            </a:endParaRPr>
          </a:p>
          <a:p>
            <a:pPr marL="0" indent="0">
              <a:spcBef>
                <a:spcPts val="0"/>
              </a:spcBef>
              <a:buNone/>
            </a:pPr>
            <a:r>
              <a:rPr lang="en-US" sz="1400" dirty="0">
                <a:solidFill>
                  <a:schemeClr val="accent1">
                    <a:lumMod val="50000"/>
                  </a:schemeClr>
                </a:solidFill>
                <a:latin typeface="Candara" panose="020E0502030303020204" pitchFamily="34" charset="0"/>
              </a:rPr>
              <a:t>-     </a:t>
            </a:r>
            <a:r>
              <a:rPr lang="en-US" sz="1400" dirty="0">
                <a:latin typeface="Candara" panose="020E0502030303020204" pitchFamily="34" charset="0"/>
              </a:rPr>
              <a:t>H.10 Statistical Release - Daily Indexes by Federal Reserve that reports daily measures of the foreign exchange value USD </a:t>
            </a:r>
          </a:p>
          <a:p>
            <a:pPr marL="0" indent="0">
              <a:spcBef>
                <a:spcPts val="0"/>
              </a:spcBef>
              <a:buNone/>
            </a:pPr>
            <a:r>
              <a:rPr lang="en-US" sz="1400" dirty="0">
                <a:latin typeface="Candara" panose="020E0502030303020204" pitchFamily="34" charset="0"/>
              </a:rPr>
              <a:t>      against baskets of currencies. We took Nominal Broad Dollar Index which is weighted against currencies of major US </a:t>
            </a:r>
          </a:p>
          <a:p>
            <a:pPr marL="0" indent="0">
              <a:spcBef>
                <a:spcPts val="0"/>
              </a:spcBef>
              <a:buNone/>
            </a:pPr>
            <a:r>
              <a:rPr lang="en-US" sz="1400" dirty="0">
                <a:latin typeface="Candara" panose="020E0502030303020204" pitchFamily="34" charset="0"/>
              </a:rPr>
              <a:t>      trading partners worldwide as SEK lies in this group [how much strong is USD against SEK]</a:t>
            </a:r>
          </a:p>
          <a:p>
            <a:pPr marL="0" indent="0">
              <a:spcBef>
                <a:spcPts val="0"/>
              </a:spcBef>
              <a:buNone/>
            </a:pPr>
            <a:r>
              <a:rPr lang="en-US" sz="1400" dirty="0">
                <a:latin typeface="Candara" panose="020E0502030303020204" pitchFamily="34" charset="0"/>
              </a:rPr>
              <a:t>      Denoted by “</a:t>
            </a:r>
            <a:r>
              <a:rPr lang="en-US" sz="1400" dirty="0" err="1">
                <a:latin typeface="Candara" panose="020E0502030303020204" pitchFamily="34" charset="0"/>
              </a:rPr>
              <a:t>dollar_index</a:t>
            </a:r>
            <a:r>
              <a:rPr lang="en-US" sz="1400" dirty="0">
                <a:latin typeface="Candara" panose="020E0502030303020204" pitchFamily="34" charset="0"/>
              </a:rPr>
              <a:t>”</a:t>
            </a:r>
          </a:p>
          <a:p>
            <a:pPr marL="0" indent="0">
              <a:spcBef>
                <a:spcPts val="0"/>
              </a:spcBef>
              <a:buNone/>
            </a:pPr>
            <a:r>
              <a:rPr lang="en-US" sz="1400" dirty="0">
                <a:latin typeface="Candara" panose="020E0502030303020204" pitchFamily="34" charset="0"/>
              </a:rPr>
              <a:t>      Source: </a:t>
            </a:r>
            <a:r>
              <a:rPr lang="en-US" sz="1400" dirty="0">
                <a:solidFill>
                  <a:schemeClr val="accent1">
                    <a:lumMod val="50000"/>
                  </a:schemeClr>
                </a:solidFill>
                <a:latin typeface="Candara" panose="020E0502030303020204" pitchFamily="34" charset="0"/>
                <a:hlinkClick r:id="rId3"/>
              </a:rPr>
              <a:t>https://www.federalreserve.gov/datadownload/Choose.aspx?rel=H10</a:t>
            </a:r>
            <a:endParaRPr lang="en-US" sz="1400" dirty="0">
              <a:solidFill>
                <a:schemeClr val="accent1">
                  <a:lumMod val="50000"/>
                </a:schemeClr>
              </a:solidFill>
              <a:latin typeface="Candara" panose="020E0502030303020204" pitchFamily="34" charset="0"/>
            </a:endParaRPr>
          </a:p>
          <a:p>
            <a:pPr marL="0" indent="0">
              <a:spcBef>
                <a:spcPts val="0"/>
              </a:spcBef>
              <a:buNone/>
            </a:pPr>
            <a:endParaRPr lang="en-US" sz="1400" dirty="0">
              <a:solidFill>
                <a:schemeClr val="accent1">
                  <a:lumMod val="50000"/>
                </a:schemeClr>
              </a:solidFill>
              <a:latin typeface="Candara" panose="020E0502030303020204" pitchFamily="34" charset="0"/>
            </a:endParaRPr>
          </a:p>
          <a:p>
            <a:pPr>
              <a:spcBef>
                <a:spcPts val="0"/>
              </a:spcBef>
              <a:buFontTx/>
              <a:buChar char="-"/>
            </a:pPr>
            <a:r>
              <a:rPr lang="en-US" sz="1400" dirty="0">
                <a:latin typeface="Candara" panose="020E0502030303020204" pitchFamily="34" charset="0"/>
              </a:rPr>
              <a:t>DEXSDUS Spot Exchange Rate [SEK per USD]</a:t>
            </a:r>
          </a:p>
          <a:p>
            <a:pPr marL="0" indent="0">
              <a:spcBef>
                <a:spcPts val="0"/>
              </a:spcBef>
              <a:buNone/>
            </a:pPr>
            <a:r>
              <a:rPr lang="en-US" sz="1400" dirty="0">
                <a:latin typeface="Candara" panose="020E0502030303020204" pitchFamily="34" charset="0"/>
              </a:rPr>
              <a:t>      Denoted by “rate”</a:t>
            </a:r>
          </a:p>
          <a:p>
            <a:pPr marL="0" indent="0">
              <a:spcBef>
                <a:spcPts val="0"/>
              </a:spcBef>
              <a:buNone/>
            </a:pPr>
            <a:r>
              <a:rPr lang="en-US" sz="1400" dirty="0">
                <a:latin typeface="Candara" panose="020E0502030303020204" pitchFamily="34" charset="0"/>
              </a:rPr>
              <a:t>      Source: </a:t>
            </a:r>
            <a:r>
              <a:rPr lang="en-US" sz="1400" dirty="0">
                <a:solidFill>
                  <a:schemeClr val="accent1">
                    <a:lumMod val="50000"/>
                  </a:schemeClr>
                </a:solidFill>
                <a:latin typeface="Candara" panose="020E0502030303020204" pitchFamily="34" charset="0"/>
                <a:hlinkClick r:id="rId4"/>
              </a:rPr>
              <a:t>https://fred.stlouisfed.org/series/DEXSDUS</a:t>
            </a:r>
            <a:endParaRPr lang="en-US" sz="1400" dirty="0">
              <a:solidFill>
                <a:schemeClr val="accent1">
                  <a:lumMod val="50000"/>
                </a:schemeClr>
              </a:solidFill>
              <a:latin typeface="Candara" panose="020E0502030303020204" pitchFamily="34" charset="0"/>
            </a:endParaRPr>
          </a:p>
          <a:p>
            <a:pPr marL="0" indent="0">
              <a:spcBef>
                <a:spcPts val="0"/>
              </a:spcBef>
              <a:buNone/>
            </a:pPr>
            <a:endParaRPr lang="en-US" sz="1400" dirty="0">
              <a:solidFill>
                <a:schemeClr val="accent1">
                  <a:lumMod val="50000"/>
                </a:schemeClr>
              </a:solidFill>
              <a:latin typeface="Candara" panose="020E0502030303020204" pitchFamily="34" charset="0"/>
            </a:endParaRPr>
          </a:p>
          <a:p>
            <a:pPr marL="0" indent="0">
              <a:spcBef>
                <a:spcPts val="0"/>
              </a:spcBef>
              <a:buNone/>
            </a:pPr>
            <a:endParaRPr lang="en-US" sz="1400" dirty="0">
              <a:solidFill>
                <a:schemeClr val="accent1">
                  <a:lumMod val="50000"/>
                </a:schemeClr>
              </a:solidFill>
              <a:latin typeface="Candara" panose="020E0502030303020204" pitchFamily="34" charset="0"/>
            </a:endParaRPr>
          </a:p>
          <a:p>
            <a:pPr marL="0" indent="0">
              <a:spcBef>
                <a:spcPts val="0"/>
              </a:spcBef>
              <a:buNone/>
            </a:pPr>
            <a:r>
              <a:rPr lang="en-US" sz="1400" dirty="0">
                <a:latin typeface="Candara" panose="020E0502030303020204" pitchFamily="34" charset="0"/>
              </a:rPr>
              <a:t>Consequently, I got 3 tables named as</a:t>
            </a:r>
          </a:p>
          <a:p>
            <a:pPr marL="0" indent="0">
              <a:spcBef>
                <a:spcPts val="0"/>
              </a:spcBef>
              <a:buNone/>
            </a:pPr>
            <a:r>
              <a:rPr lang="en-US" sz="1400" dirty="0">
                <a:latin typeface="Candara" panose="020E0502030303020204" pitchFamily="34" charset="0"/>
              </a:rPr>
              <a:t>	- </a:t>
            </a:r>
            <a:r>
              <a:rPr lang="en-US" sz="1400" dirty="0" err="1">
                <a:latin typeface="Candara" panose="020E0502030303020204" pitchFamily="34" charset="0"/>
              </a:rPr>
              <a:t>gold_price_table</a:t>
            </a:r>
            <a:endParaRPr lang="en-US" sz="1400" dirty="0">
              <a:latin typeface="Candara" panose="020E0502030303020204" pitchFamily="34" charset="0"/>
            </a:endParaRPr>
          </a:p>
          <a:p>
            <a:pPr marL="0" indent="0">
              <a:spcBef>
                <a:spcPts val="0"/>
              </a:spcBef>
              <a:buNone/>
            </a:pPr>
            <a:r>
              <a:rPr lang="en-US" sz="1400" dirty="0">
                <a:latin typeface="Candara" panose="020E0502030303020204" pitchFamily="34" charset="0"/>
              </a:rPr>
              <a:t>	- </a:t>
            </a:r>
            <a:r>
              <a:rPr lang="en-US" sz="1400" dirty="0" err="1">
                <a:latin typeface="Candara" panose="020E0502030303020204" pitchFamily="34" charset="0"/>
              </a:rPr>
              <a:t>index_table</a:t>
            </a:r>
            <a:endParaRPr lang="en-US" sz="1400" dirty="0">
              <a:latin typeface="Candara" panose="020E0502030303020204" pitchFamily="34" charset="0"/>
            </a:endParaRPr>
          </a:p>
          <a:p>
            <a:pPr marL="0" indent="0">
              <a:spcBef>
                <a:spcPts val="0"/>
              </a:spcBef>
              <a:buNone/>
            </a:pPr>
            <a:r>
              <a:rPr lang="en-US" sz="1400" dirty="0">
                <a:latin typeface="Candara" panose="020E0502030303020204" pitchFamily="34" charset="0"/>
              </a:rPr>
              <a:t>	- </a:t>
            </a:r>
            <a:r>
              <a:rPr lang="en-US" sz="1400" dirty="0" err="1">
                <a:latin typeface="Candara" panose="020E0502030303020204" pitchFamily="34" charset="0"/>
              </a:rPr>
              <a:t>rate_table</a:t>
            </a:r>
            <a:endParaRPr lang="en-US" sz="1400" dirty="0">
              <a:latin typeface="Candara" panose="020E0502030303020204" pitchFamily="34" charset="0"/>
            </a:endParaRPr>
          </a:p>
          <a:p>
            <a:pPr marL="0" indent="0">
              <a:spcBef>
                <a:spcPts val="0"/>
              </a:spcBef>
              <a:buNone/>
            </a:pPr>
            <a:endParaRPr lang="en-US" sz="1400" dirty="0">
              <a:solidFill>
                <a:schemeClr val="accent1">
                  <a:lumMod val="50000"/>
                </a:schemeClr>
              </a:solidFill>
              <a:latin typeface="Candara" panose="020E0502030303020204" pitchFamily="34" charset="0"/>
            </a:endParaRPr>
          </a:p>
        </p:txBody>
      </p:sp>
      <p:pic>
        <p:nvPicPr>
          <p:cNvPr id="4" name="Picture 3" descr="Data Collection icon in vector. Logotype 40354866 Vector Art at ...">
            <a:extLst>
              <a:ext uri="{FF2B5EF4-FFF2-40B4-BE49-F238E27FC236}">
                <a16:creationId xmlns:a16="http://schemas.microsoft.com/office/drawing/2014/main" id="{DE1A48E0-1B88-FA8A-52C6-0D94A92B437A}"/>
              </a:ext>
            </a:extLst>
          </p:cNvPr>
          <p:cNvPicPr>
            <a:picLocks noChangeAspect="1"/>
          </p:cNvPicPr>
          <p:nvPr/>
        </p:nvPicPr>
        <p:blipFill>
          <a:blip r:embed="rId5"/>
          <a:stretch>
            <a:fillRect/>
          </a:stretch>
        </p:blipFill>
        <p:spPr>
          <a:xfrm>
            <a:off x="9175965" y="3980225"/>
            <a:ext cx="2036434" cy="2036434"/>
          </a:xfrm>
          <a:prstGeom prst="rect">
            <a:avLst/>
          </a:prstGeom>
        </p:spPr>
      </p:pic>
      <p:pic>
        <p:nvPicPr>
          <p:cNvPr id="8" name="Picture 7">
            <a:extLst>
              <a:ext uri="{FF2B5EF4-FFF2-40B4-BE49-F238E27FC236}">
                <a16:creationId xmlns:a16="http://schemas.microsoft.com/office/drawing/2014/main" id="{00DEF816-8B86-3D3D-A10C-3BFA231ED8A8}"/>
              </a:ext>
            </a:extLst>
          </p:cNvPr>
          <p:cNvPicPr>
            <a:picLocks noChangeAspect="1"/>
          </p:cNvPicPr>
          <p:nvPr/>
        </p:nvPicPr>
        <p:blipFill>
          <a:blip r:embed="rId6"/>
          <a:stretch>
            <a:fillRect/>
          </a:stretch>
        </p:blipFill>
        <p:spPr>
          <a:xfrm>
            <a:off x="5890321" y="3980225"/>
            <a:ext cx="3057637" cy="2036434"/>
          </a:xfrm>
          <a:prstGeom prst="rect">
            <a:avLst/>
          </a:prstGeom>
        </p:spPr>
      </p:pic>
    </p:spTree>
    <p:extLst>
      <p:ext uri="{BB962C8B-B14F-4D97-AF65-F5344CB8AC3E}">
        <p14:creationId xmlns:p14="http://schemas.microsoft.com/office/powerpoint/2010/main" val="297799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3106-C498-F7C4-8C27-377B8E8B3FDC}"/>
              </a:ext>
            </a:extLst>
          </p:cNvPr>
          <p:cNvSpPr>
            <a:spLocks noGrp="1"/>
          </p:cNvSpPr>
          <p:nvPr>
            <p:ph type="title"/>
          </p:nvPr>
        </p:nvSpPr>
        <p:spPr>
          <a:xfrm>
            <a:off x="838200" y="365126"/>
            <a:ext cx="10515600" cy="605836"/>
          </a:xfrm>
        </p:spPr>
        <p:txBody>
          <a:bodyPr>
            <a:normAutofit/>
          </a:bodyPr>
          <a:lstStyle/>
          <a:p>
            <a:r>
              <a:rPr lang="en-US" sz="1800" dirty="0">
                <a:solidFill>
                  <a:schemeClr val="accent1">
                    <a:lumMod val="50000"/>
                  </a:schemeClr>
                </a:solidFill>
                <a:latin typeface="Candara" panose="020E0502030303020204" pitchFamily="34" charset="0"/>
                <a:ea typeface="Cambria" panose="02040503050406030204" pitchFamily="18" charset="0"/>
              </a:rPr>
              <a:t>Joining 3 Dataset</a:t>
            </a:r>
          </a:p>
        </p:txBody>
      </p:sp>
      <p:sp>
        <p:nvSpPr>
          <p:cNvPr id="3" name="Content Placeholder 2">
            <a:extLst>
              <a:ext uri="{FF2B5EF4-FFF2-40B4-BE49-F238E27FC236}">
                <a16:creationId xmlns:a16="http://schemas.microsoft.com/office/drawing/2014/main" id="{386C6D34-863F-A188-02F0-504F25771715}"/>
              </a:ext>
            </a:extLst>
          </p:cNvPr>
          <p:cNvSpPr>
            <a:spLocks noGrp="1"/>
          </p:cNvSpPr>
          <p:nvPr>
            <p:ph idx="1"/>
          </p:nvPr>
        </p:nvSpPr>
        <p:spPr>
          <a:xfrm>
            <a:off x="838199" y="3429000"/>
            <a:ext cx="5383491" cy="2142241"/>
          </a:xfrm>
        </p:spPr>
        <p:txBody>
          <a:bodyPr>
            <a:normAutofit lnSpcReduction="10000"/>
          </a:bodyPr>
          <a:lstStyle/>
          <a:p>
            <a:pPr marL="0" indent="0">
              <a:buNone/>
            </a:pPr>
            <a:r>
              <a:rPr lang="en-US" sz="1400" dirty="0">
                <a:latin typeface="Candara" panose="020E0502030303020204" pitchFamily="34" charset="0"/>
              </a:rPr>
              <a:t>I combined the </a:t>
            </a:r>
            <a:r>
              <a:rPr lang="en-US" sz="1400" dirty="0" err="1">
                <a:latin typeface="Candara" panose="020E0502030303020204" pitchFamily="34" charset="0"/>
              </a:rPr>
              <a:t>gold_price_table</a:t>
            </a:r>
            <a:r>
              <a:rPr lang="en-US" sz="1400" dirty="0">
                <a:latin typeface="Candara" panose="020E0502030303020204" pitchFamily="34" charset="0"/>
              </a:rPr>
              <a:t>, </a:t>
            </a:r>
            <a:r>
              <a:rPr lang="en-US" sz="1400" dirty="0" err="1">
                <a:latin typeface="Candara" panose="020E0502030303020204" pitchFamily="34" charset="0"/>
              </a:rPr>
              <a:t>index_table</a:t>
            </a:r>
            <a:r>
              <a:rPr lang="en-US" sz="1400" dirty="0">
                <a:latin typeface="Candara" panose="020E0502030303020204" pitchFamily="34" charset="0"/>
              </a:rPr>
              <a:t>, and </a:t>
            </a:r>
            <a:r>
              <a:rPr lang="en-US" sz="1400" dirty="0" err="1">
                <a:latin typeface="Candara" panose="020E0502030303020204" pitchFamily="34" charset="0"/>
              </a:rPr>
              <a:t>rate_table</a:t>
            </a:r>
            <a:r>
              <a:rPr lang="en-US" sz="1400" dirty="0">
                <a:latin typeface="Candara" panose="020E0502030303020204" pitchFamily="34" charset="0"/>
              </a:rPr>
              <a:t> by matching their common date column. This date-wise merge created a single unified dataset where each row represents one trading date and contains the corresponding gold price, dollar index, and USD to SEK exchange rate. </a:t>
            </a:r>
          </a:p>
          <a:p>
            <a:pPr marL="0" indent="0">
              <a:buNone/>
            </a:pPr>
            <a:r>
              <a:rPr lang="en-US" sz="1400" dirty="0">
                <a:latin typeface="Candara" panose="020E0502030303020204" pitchFamily="34" charset="0"/>
              </a:rPr>
              <a:t>The combined dataset was then used for further analysis of trends, fluctuations, and relationships among the three financial variables.</a:t>
            </a:r>
          </a:p>
          <a:p>
            <a:pPr marL="0" indent="0">
              <a:buNone/>
            </a:pPr>
            <a:endParaRPr lang="en-US" sz="1400" dirty="0">
              <a:solidFill>
                <a:schemeClr val="accent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joining</a:t>
            </a:r>
          </a:p>
        </p:txBody>
      </p:sp>
      <p:pic>
        <p:nvPicPr>
          <p:cNvPr id="6" name="Picture 5" descr="Inviting Everyone In: Simple Ways to Encourage More People to Join Open  Science - Open and Universal Science (OPUS) Project">
            <a:extLst>
              <a:ext uri="{FF2B5EF4-FFF2-40B4-BE49-F238E27FC236}">
                <a16:creationId xmlns:a16="http://schemas.microsoft.com/office/drawing/2014/main" id="{EE6F2223-7C1D-36CF-79F8-41BF896F2FDD}"/>
              </a:ext>
            </a:extLst>
          </p:cNvPr>
          <p:cNvPicPr>
            <a:picLocks noChangeAspect="1"/>
          </p:cNvPicPr>
          <p:nvPr/>
        </p:nvPicPr>
        <p:blipFill>
          <a:blip r:embed="rId2"/>
          <a:stretch>
            <a:fillRect/>
          </a:stretch>
        </p:blipFill>
        <p:spPr>
          <a:xfrm>
            <a:off x="838200" y="1233735"/>
            <a:ext cx="1992590" cy="1992590"/>
          </a:xfrm>
          <a:prstGeom prst="rect">
            <a:avLst/>
          </a:prstGeom>
        </p:spPr>
      </p:pic>
      <p:pic>
        <p:nvPicPr>
          <p:cNvPr id="8" name="Picture 7">
            <a:extLst>
              <a:ext uri="{FF2B5EF4-FFF2-40B4-BE49-F238E27FC236}">
                <a16:creationId xmlns:a16="http://schemas.microsoft.com/office/drawing/2014/main" id="{0BA2C6F9-1BA4-8E49-5BD2-87863CBE9B2B}"/>
              </a:ext>
            </a:extLst>
          </p:cNvPr>
          <p:cNvPicPr>
            <a:picLocks noChangeAspect="1"/>
          </p:cNvPicPr>
          <p:nvPr/>
        </p:nvPicPr>
        <p:blipFill>
          <a:blip r:embed="rId3"/>
          <a:stretch>
            <a:fillRect/>
          </a:stretch>
        </p:blipFill>
        <p:spPr>
          <a:xfrm>
            <a:off x="8267307" y="1233735"/>
            <a:ext cx="3086493" cy="4087517"/>
          </a:xfrm>
          <a:prstGeom prst="rect">
            <a:avLst/>
          </a:prstGeom>
        </p:spPr>
      </p:pic>
    </p:spTree>
    <p:extLst>
      <p:ext uri="{BB962C8B-B14F-4D97-AF65-F5344CB8AC3E}">
        <p14:creationId xmlns:p14="http://schemas.microsoft.com/office/powerpoint/2010/main" val="695630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477E2-3005-55FE-1180-E03DE0E96047}"/>
              </a:ext>
            </a:extLst>
          </p:cNvPr>
          <p:cNvSpPr>
            <a:spLocks noGrp="1"/>
          </p:cNvSpPr>
          <p:nvPr>
            <p:ph type="title"/>
          </p:nvPr>
        </p:nvSpPr>
        <p:spPr>
          <a:xfrm>
            <a:off x="838200" y="365125"/>
            <a:ext cx="10515600" cy="615263"/>
          </a:xfrm>
        </p:spPr>
        <p:txBody>
          <a:bodyPr>
            <a:normAutofit/>
          </a:bodyPr>
          <a:lstStyle/>
          <a:p>
            <a:r>
              <a:rPr lang="en-US" sz="1800" dirty="0">
                <a:solidFill>
                  <a:schemeClr val="accent1">
                    <a:lumMod val="50000"/>
                  </a:schemeClr>
                </a:solidFill>
                <a:latin typeface="Candara" panose="020E0502030303020204" pitchFamily="34" charset="0"/>
                <a:ea typeface="Cambria" panose="02040503050406030204" pitchFamily="18" charset="0"/>
              </a:rPr>
              <a:t>Missing Value Treatment</a:t>
            </a:r>
          </a:p>
        </p:txBody>
      </p:sp>
      <p:sp>
        <p:nvSpPr>
          <p:cNvPr id="3" name="Content Placeholder 2">
            <a:extLst>
              <a:ext uri="{FF2B5EF4-FFF2-40B4-BE49-F238E27FC236}">
                <a16:creationId xmlns:a16="http://schemas.microsoft.com/office/drawing/2014/main" id="{60B65B28-80F6-1DCD-5410-6046225CDE57}"/>
              </a:ext>
            </a:extLst>
          </p:cNvPr>
          <p:cNvSpPr>
            <a:spLocks noGrp="1"/>
          </p:cNvSpPr>
          <p:nvPr>
            <p:ph idx="1"/>
          </p:nvPr>
        </p:nvSpPr>
        <p:spPr>
          <a:xfrm>
            <a:off x="838200" y="1225485"/>
            <a:ext cx="10515600" cy="5267390"/>
          </a:xfrm>
        </p:spPr>
        <p:txBody>
          <a:bodyPr>
            <a:normAutofit/>
          </a:bodyPr>
          <a:lstStyle/>
          <a:p>
            <a:pPr marL="0" indent="0">
              <a:buNone/>
            </a:pPr>
            <a:r>
              <a:rPr lang="en-US" sz="1400" dirty="0">
                <a:latin typeface="Candara" panose="020E0502030303020204" pitchFamily="34" charset="0"/>
              </a:rPr>
              <a:t>As the data were collected from a well-established and reliable source, I did not have to perform any data cleaning. All I needed to perform was handling missing values. Although I could have removed the observations containing missing values, I decided not to do so because the dataset already contained a limited number of observations. Instead, I filled the missing values using linear interpolation to preserve the continuity of the time series.</a:t>
            </a:r>
          </a:p>
          <a:p>
            <a:pPr marL="0" indent="0">
              <a:buNone/>
            </a:pPr>
            <a:r>
              <a:rPr lang="en-US" sz="1400" dirty="0">
                <a:latin typeface="Candara" panose="020E0502030303020204" pitchFamily="34" charset="0"/>
              </a:rPr>
              <a:t>				</a:t>
            </a:r>
          </a:p>
          <a:p>
            <a:pPr marL="0" indent="0">
              <a:buNone/>
            </a:pPr>
            <a:r>
              <a:rPr lang="en-US" sz="1400" dirty="0">
                <a:latin typeface="Candara" panose="020E0502030303020204" pitchFamily="34" charset="0"/>
              </a:rPr>
              <a:t>				The missing value was calculated as</a:t>
            </a:r>
          </a:p>
          <a:p>
            <a:pPr marL="0" indent="0">
              <a:buNone/>
            </a:pPr>
            <a:r>
              <a:rPr lang="en-US" sz="1400" b="1" dirty="0">
                <a:latin typeface="Candara" panose="020E0502030303020204" pitchFamily="34" charset="0"/>
              </a:rPr>
              <a:t>				Missing Value = (Previous Value + Following Value) / 2</a:t>
            </a:r>
            <a:endParaRPr lang="en-US" sz="1400" dirty="0">
              <a:latin typeface="Candara" panose="020E0502030303020204" pitchFamily="34" charset="0"/>
            </a:endParaRPr>
          </a:p>
          <a:p>
            <a:pPr marL="0" indent="0">
              <a:buNone/>
            </a:pPr>
            <a:r>
              <a:rPr lang="en-US" sz="1400" dirty="0">
                <a:latin typeface="Candara" panose="020E0502030303020204" pitchFamily="34" charset="0"/>
              </a:rPr>
              <a:t>				</a:t>
            </a:r>
          </a:p>
          <a:p>
            <a:pPr marL="0" indent="0">
              <a:buNone/>
            </a:pPr>
            <a:r>
              <a:rPr lang="en-US" sz="1400" dirty="0">
                <a:latin typeface="Candara" panose="020E0502030303020204" pitchFamily="34" charset="0"/>
              </a:rPr>
              <a:t>				If the immediate previous or following observation was also missing, I used the nearest 				available previous and next observations. In other words, the missing value was estimated 				by taking the average of the closest available observations before and after the missing 				point.</a:t>
            </a:r>
          </a:p>
          <a:p>
            <a:pPr marL="0" indent="0">
              <a:buNone/>
            </a:pPr>
            <a:r>
              <a:rPr lang="en-US" sz="1400" dirty="0">
                <a:latin typeface="Candara" panose="020E0502030303020204" pitchFamily="34" charset="0"/>
              </a:rPr>
              <a:t>				</a:t>
            </a:r>
          </a:p>
          <a:p>
            <a:pPr marL="0" indent="0">
              <a:buNone/>
            </a:pPr>
            <a:r>
              <a:rPr lang="en-US" sz="1400" dirty="0">
                <a:latin typeface="Candara" panose="020E0502030303020204" pitchFamily="34" charset="0"/>
              </a:rPr>
              <a:t>				However, as the first and last observations did not have previous and following values, 				respectively, I kept them unchanged if they contained missing values.</a:t>
            </a:r>
          </a:p>
          <a:p>
            <a:pPr marL="0" indent="0">
              <a:buNone/>
            </a:pPr>
            <a:endParaRPr lang="en-US" sz="1400" dirty="0">
              <a:solidFill>
                <a:schemeClr val="accent1">
                  <a:lumMod val="50000"/>
                </a:schemeClr>
              </a:solidFill>
              <a:latin typeface="Candara" panose="020E0502030303020204" pitchFamily="34" charset="0"/>
            </a:endParaRPr>
          </a:p>
          <a:p>
            <a:pPr marL="0" indent="0">
              <a:buNone/>
            </a:pPr>
            <a:endParaRPr lang="en-US" sz="1400" dirty="0">
              <a:solidFill>
                <a:schemeClr val="accent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treating mv</a:t>
            </a:r>
          </a:p>
        </p:txBody>
      </p:sp>
      <p:pic>
        <p:nvPicPr>
          <p:cNvPr id="6" name="Picture 5" descr="Missing data and diagram icon concept – Royalty-Free Vector ...">
            <a:extLst>
              <a:ext uri="{FF2B5EF4-FFF2-40B4-BE49-F238E27FC236}">
                <a16:creationId xmlns:a16="http://schemas.microsoft.com/office/drawing/2014/main" id="{4E9EA8F1-F0EA-3B52-B640-12C281547926}"/>
              </a:ext>
            </a:extLst>
          </p:cNvPr>
          <p:cNvPicPr>
            <a:picLocks noChangeAspect="1"/>
          </p:cNvPicPr>
          <p:nvPr/>
        </p:nvPicPr>
        <p:blipFill>
          <a:blip r:embed="rId2"/>
          <a:stretch>
            <a:fillRect/>
          </a:stretch>
        </p:blipFill>
        <p:spPr>
          <a:xfrm>
            <a:off x="838200" y="2238865"/>
            <a:ext cx="2566186" cy="2771481"/>
          </a:xfrm>
          <a:prstGeom prst="rect">
            <a:avLst/>
          </a:prstGeom>
        </p:spPr>
      </p:pic>
    </p:spTree>
    <p:extLst>
      <p:ext uri="{BB962C8B-B14F-4D97-AF65-F5344CB8AC3E}">
        <p14:creationId xmlns:p14="http://schemas.microsoft.com/office/powerpoint/2010/main" val="316692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BC74-132E-D406-34F6-6EECD2273910}"/>
              </a:ext>
            </a:extLst>
          </p:cNvPr>
          <p:cNvSpPr>
            <a:spLocks noGrp="1"/>
          </p:cNvSpPr>
          <p:nvPr>
            <p:ph type="title"/>
          </p:nvPr>
        </p:nvSpPr>
        <p:spPr>
          <a:xfrm>
            <a:off x="839788" y="457200"/>
            <a:ext cx="8201575" cy="357162"/>
          </a:xfrm>
        </p:spPr>
        <p:txBody>
          <a:bodyPr>
            <a:normAutofit fontScale="90000"/>
          </a:bodyPr>
          <a:lstStyle/>
          <a:p>
            <a:r>
              <a:rPr lang="en-US" sz="2000" dirty="0">
                <a:solidFill>
                  <a:schemeClr val="accent1">
                    <a:lumMod val="50000"/>
                  </a:schemeClr>
                </a:solidFill>
                <a:latin typeface="Candara" panose="020E0502030303020204" pitchFamily="34" charset="0"/>
                <a:ea typeface="Cambria" panose="02040503050406030204" pitchFamily="18" charset="0"/>
              </a:rPr>
              <a:t>Q1: Show the month-wise trend of the 3 indices.</a:t>
            </a:r>
          </a:p>
        </p:txBody>
      </p:sp>
      <p:pic>
        <p:nvPicPr>
          <p:cNvPr id="5" name="Content Placeholder 4">
            <a:extLst>
              <a:ext uri="{FF2B5EF4-FFF2-40B4-BE49-F238E27FC236}">
                <a16:creationId xmlns:a16="http://schemas.microsoft.com/office/drawing/2014/main" id="{C50A35F9-551C-E355-448C-5903C7F8449F}"/>
              </a:ext>
            </a:extLst>
          </p:cNvPr>
          <p:cNvPicPr>
            <a:picLocks noGrp="1" noChangeAspect="1"/>
          </p:cNvPicPr>
          <p:nvPr>
            <p:ph idx="1"/>
          </p:nvPr>
        </p:nvPicPr>
        <p:blipFill>
          <a:blip r:embed="rId2"/>
          <a:stretch>
            <a:fillRect/>
          </a:stretch>
        </p:blipFill>
        <p:spPr>
          <a:xfrm>
            <a:off x="839788" y="1026367"/>
            <a:ext cx="2991267" cy="4323725"/>
          </a:xfrm>
          <a:prstGeom prst="rect">
            <a:avLst/>
          </a:prstGeom>
        </p:spPr>
      </p:pic>
      <p:sp>
        <p:nvSpPr>
          <p:cNvPr id="13" name="Text Placeholder 12">
            <a:extLst>
              <a:ext uri="{FF2B5EF4-FFF2-40B4-BE49-F238E27FC236}">
                <a16:creationId xmlns:a16="http://schemas.microsoft.com/office/drawing/2014/main" id="{272BE1AD-C1D7-15F3-30BE-127E9E603CD2}"/>
              </a:ext>
            </a:extLst>
          </p:cNvPr>
          <p:cNvSpPr>
            <a:spLocks noGrp="1"/>
          </p:cNvSpPr>
          <p:nvPr>
            <p:ph type="body" sz="half" idx="2"/>
          </p:nvPr>
        </p:nvSpPr>
        <p:spPr>
          <a:xfrm>
            <a:off x="4241871" y="3338017"/>
            <a:ext cx="2801135" cy="285598"/>
          </a:xfrm>
        </p:spPr>
        <p:txBody>
          <a:bodyPr>
            <a:normAutofit/>
          </a:bodyPr>
          <a:lstStyle/>
          <a:p>
            <a:r>
              <a:rPr lang="en-US" sz="1200" i="1" dirty="0">
                <a:latin typeface="Candara" panose="020E0502030303020204" pitchFamily="34" charset="0"/>
              </a:rPr>
              <a:t>Month-wise average gold price</a:t>
            </a:r>
          </a:p>
        </p:txBody>
      </p:sp>
      <p:pic>
        <p:nvPicPr>
          <p:cNvPr id="7" name="Picture 6">
            <a:extLst>
              <a:ext uri="{FF2B5EF4-FFF2-40B4-BE49-F238E27FC236}">
                <a16:creationId xmlns:a16="http://schemas.microsoft.com/office/drawing/2014/main" id="{22DF9942-B00A-3623-621E-72F85B12A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2719" y="1036332"/>
            <a:ext cx="3451893" cy="2269169"/>
          </a:xfrm>
          <a:prstGeom prst="rect">
            <a:avLst/>
          </a:prstGeom>
        </p:spPr>
      </p:pic>
      <p:pic>
        <p:nvPicPr>
          <p:cNvPr id="9" name="Picture 8">
            <a:extLst>
              <a:ext uri="{FF2B5EF4-FFF2-40B4-BE49-F238E27FC236}">
                <a16:creationId xmlns:a16="http://schemas.microsoft.com/office/drawing/2014/main" id="{E54F9E0F-E02A-599F-29F4-BAC2C15093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0130" y="1036332"/>
            <a:ext cx="3402082" cy="2348645"/>
          </a:xfrm>
          <a:prstGeom prst="rect">
            <a:avLst/>
          </a:prstGeom>
        </p:spPr>
      </p:pic>
      <p:pic>
        <p:nvPicPr>
          <p:cNvPr id="11" name="Picture 10">
            <a:extLst>
              <a:ext uri="{FF2B5EF4-FFF2-40B4-BE49-F238E27FC236}">
                <a16:creationId xmlns:a16="http://schemas.microsoft.com/office/drawing/2014/main" id="{66C578FC-DBE5-A3BB-D937-2872AF9C3B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2719" y="3869697"/>
            <a:ext cx="3451893" cy="2352369"/>
          </a:xfrm>
          <a:prstGeom prst="rect">
            <a:avLst/>
          </a:prstGeom>
        </p:spPr>
      </p:pic>
      <p:sp>
        <p:nvSpPr>
          <p:cNvPr id="14" name="Text Placeholder 12">
            <a:extLst>
              <a:ext uri="{FF2B5EF4-FFF2-40B4-BE49-F238E27FC236}">
                <a16:creationId xmlns:a16="http://schemas.microsoft.com/office/drawing/2014/main" id="{95BCE044-4753-D406-45E7-5D191CB06A3D}"/>
              </a:ext>
            </a:extLst>
          </p:cNvPr>
          <p:cNvSpPr txBox="1">
            <a:spLocks/>
          </p:cNvSpPr>
          <p:nvPr/>
        </p:nvSpPr>
        <p:spPr>
          <a:xfrm>
            <a:off x="7950130" y="3391676"/>
            <a:ext cx="2801135" cy="28559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200" i="1" dirty="0">
                <a:latin typeface="Candara" panose="020E0502030303020204" pitchFamily="34" charset="0"/>
              </a:rPr>
              <a:t>Month-wise average dollar index</a:t>
            </a:r>
          </a:p>
        </p:txBody>
      </p:sp>
      <p:sp>
        <p:nvSpPr>
          <p:cNvPr id="15" name="Text Placeholder 12">
            <a:extLst>
              <a:ext uri="{FF2B5EF4-FFF2-40B4-BE49-F238E27FC236}">
                <a16:creationId xmlns:a16="http://schemas.microsoft.com/office/drawing/2014/main" id="{717B16A6-B7E5-3D04-FA33-14D83FB1D9BC}"/>
              </a:ext>
            </a:extLst>
          </p:cNvPr>
          <p:cNvSpPr txBox="1">
            <a:spLocks/>
          </p:cNvSpPr>
          <p:nvPr/>
        </p:nvSpPr>
        <p:spPr>
          <a:xfrm>
            <a:off x="4241871" y="6211283"/>
            <a:ext cx="2801135" cy="28559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200" i="1" dirty="0">
                <a:latin typeface="Candara" panose="020E0502030303020204" pitchFamily="34" charset="0"/>
              </a:rPr>
              <a:t>Month-wise average rate</a:t>
            </a:r>
          </a:p>
        </p:txBody>
      </p:sp>
      <p:sp>
        <p:nvSpPr>
          <p:cNvPr id="16" name="Text Placeholder 12">
            <a:extLst>
              <a:ext uri="{FF2B5EF4-FFF2-40B4-BE49-F238E27FC236}">
                <a16:creationId xmlns:a16="http://schemas.microsoft.com/office/drawing/2014/main" id="{37D3B786-1155-C1E1-C5B4-8C2E78A7B535}"/>
              </a:ext>
            </a:extLst>
          </p:cNvPr>
          <p:cNvSpPr txBox="1">
            <a:spLocks/>
          </p:cNvSpPr>
          <p:nvPr/>
        </p:nvSpPr>
        <p:spPr>
          <a:xfrm>
            <a:off x="788333" y="5936468"/>
            <a:ext cx="2801135" cy="28559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400" i="1" dirty="0">
                <a:solidFill>
                  <a:schemeClr val="bg1">
                    <a:lumMod val="50000"/>
                  </a:schemeClr>
                </a:solidFill>
                <a:latin typeface="Candara" panose="020E0502030303020204" pitchFamily="34" charset="0"/>
              </a:rPr>
              <a:t>Script name: 1_monthwise_average</a:t>
            </a:r>
          </a:p>
        </p:txBody>
      </p:sp>
      <p:sp>
        <p:nvSpPr>
          <p:cNvPr id="18" name="Text Placeholder 12">
            <a:extLst>
              <a:ext uri="{FF2B5EF4-FFF2-40B4-BE49-F238E27FC236}">
                <a16:creationId xmlns:a16="http://schemas.microsoft.com/office/drawing/2014/main" id="{0691EAE9-CF39-29A0-02F4-DAEC4ABACC79}"/>
              </a:ext>
            </a:extLst>
          </p:cNvPr>
          <p:cNvSpPr txBox="1">
            <a:spLocks/>
          </p:cNvSpPr>
          <p:nvPr/>
        </p:nvSpPr>
        <p:spPr>
          <a:xfrm>
            <a:off x="8722170" y="3895181"/>
            <a:ext cx="2801135" cy="23161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400" dirty="0">
                <a:latin typeface="Candara" panose="020E0502030303020204" pitchFamily="34" charset="0"/>
              </a:rPr>
              <a:t>Comment:</a:t>
            </a:r>
          </a:p>
          <a:p>
            <a:r>
              <a:rPr lang="en-US" sz="1400" dirty="0"/>
              <a:t>Gold prices follow an upward trend, whereas the Dollar Index and USD to SEK exchange rate decline after early 2025. </a:t>
            </a:r>
          </a:p>
          <a:p>
            <a:r>
              <a:rPr lang="en-US" sz="1400" dirty="0"/>
              <a:t>These contrasting movements suggest differing market dynamics and motivate further analysis.</a:t>
            </a:r>
            <a:endParaRPr lang="en-US" sz="1400" dirty="0">
              <a:latin typeface="Candara" panose="020E0502030303020204" pitchFamily="34" charset="0"/>
            </a:endParaRPr>
          </a:p>
        </p:txBody>
      </p:sp>
    </p:spTree>
    <p:extLst>
      <p:ext uri="{BB962C8B-B14F-4D97-AF65-F5344CB8AC3E}">
        <p14:creationId xmlns:p14="http://schemas.microsoft.com/office/powerpoint/2010/main" val="419480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EB151-8272-4B3D-13A7-07810A4F7486}"/>
              </a:ext>
            </a:extLst>
          </p:cNvPr>
          <p:cNvSpPr>
            <a:spLocks noGrp="1"/>
          </p:cNvSpPr>
          <p:nvPr>
            <p:ph type="title"/>
          </p:nvPr>
        </p:nvSpPr>
        <p:spPr>
          <a:xfrm>
            <a:off x="838200" y="365125"/>
            <a:ext cx="10515600" cy="885177"/>
          </a:xfrm>
        </p:spPr>
        <p:txBody>
          <a:bodyPr>
            <a:normAutofit/>
          </a:bodyPr>
          <a:lstStyle/>
          <a:p>
            <a:r>
              <a:rPr lang="en-US" sz="1800" dirty="0">
                <a:solidFill>
                  <a:schemeClr val="accent1">
                    <a:lumMod val="50000"/>
                  </a:schemeClr>
                </a:solidFill>
                <a:latin typeface="Candara" panose="020E0502030303020204" pitchFamily="34" charset="0"/>
                <a:ea typeface="Cambria" panose="02040503050406030204" pitchFamily="18" charset="0"/>
              </a:rPr>
              <a:t>Q2: Find the severe fluctuations dates. Among the indices which index is the most volatile one? Which is the least?</a:t>
            </a:r>
          </a:p>
        </p:txBody>
      </p:sp>
      <p:sp>
        <p:nvSpPr>
          <p:cNvPr id="3" name="Content Placeholder 2">
            <a:extLst>
              <a:ext uri="{FF2B5EF4-FFF2-40B4-BE49-F238E27FC236}">
                <a16:creationId xmlns:a16="http://schemas.microsoft.com/office/drawing/2014/main" id="{66CC7EAB-3FB6-A17E-3C21-9A596090988D}"/>
              </a:ext>
            </a:extLst>
          </p:cNvPr>
          <p:cNvSpPr>
            <a:spLocks noGrp="1"/>
          </p:cNvSpPr>
          <p:nvPr>
            <p:ph idx="1"/>
          </p:nvPr>
        </p:nvSpPr>
        <p:spPr>
          <a:xfrm>
            <a:off x="838201" y="1371600"/>
            <a:ext cx="5887272" cy="4805363"/>
          </a:xfrm>
        </p:spPr>
        <p:txBody>
          <a:bodyPr>
            <a:normAutofit/>
          </a:bodyPr>
          <a:lstStyle/>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endParaRPr lang="en-US" sz="1600" dirty="0">
              <a:latin typeface="Candara" panose="020E0502030303020204" pitchFamily="34" charset="0"/>
            </a:endParaRPr>
          </a:p>
          <a:p>
            <a:pPr marL="0" indent="0">
              <a:buNone/>
            </a:pPr>
            <a:r>
              <a:rPr lang="en-US" sz="1400" dirty="0">
                <a:latin typeface="Candara" panose="020E0502030303020204" pitchFamily="34" charset="0"/>
              </a:rPr>
              <a:t>Among the indices, gold price shows the highest volatility, indicating more frequent and larger day-to-day fluctuations. The USD to SEK exchange rate shows moderate variability, while the dollar index is the most stable throughout the study period. </a:t>
            </a:r>
          </a:p>
          <a:p>
            <a:pPr marL="0" indent="0">
              <a:buNone/>
            </a:pPr>
            <a:r>
              <a:rPr lang="en-US" sz="1400" dirty="0">
                <a:latin typeface="Candara" panose="020E0502030303020204" pitchFamily="34" charset="0"/>
              </a:rPr>
              <a:t>This suggests that movements in gold prices were considerably more dynamic than those of the two dollar-related indicators.</a:t>
            </a:r>
          </a:p>
          <a:p>
            <a:pPr marL="0" indent="0">
              <a:buNone/>
            </a:pPr>
            <a:endParaRPr lang="en-US" dirty="0"/>
          </a:p>
          <a:p>
            <a:pPr marL="0" indent="0">
              <a:buNone/>
            </a:pPr>
            <a:r>
              <a:rPr lang="en-US" sz="1400" i="1" dirty="0">
                <a:solidFill>
                  <a:schemeClr val="bg1">
                    <a:lumMod val="50000"/>
                  </a:schemeClr>
                </a:solidFill>
                <a:latin typeface="Candara" panose="020E0502030303020204" pitchFamily="34" charset="0"/>
              </a:rPr>
              <a:t>Script name: 2_fluctuation</a:t>
            </a:r>
          </a:p>
          <a:p>
            <a:endParaRPr lang="en-US" dirty="0"/>
          </a:p>
        </p:txBody>
      </p:sp>
      <p:pic>
        <p:nvPicPr>
          <p:cNvPr id="5" name="Picture 4">
            <a:extLst>
              <a:ext uri="{FF2B5EF4-FFF2-40B4-BE49-F238E27FC236}">
                <a16:creationId xmlns:a16="http://schemas.microsoft.com/office/drawing/2014/main" id="{01FD4579-A01E-9F44-BBA6-42D509519E6D}"/>
              </a:ext>
            </a:extLst>
          </p:cNvPr>
          <p:cNvPicPr>
            <a:picLocks noChangeAspect="1"/>
          </p:cNvPicPr>
          <p:nvPr/>
        </p:nvPicPr>
        <p:blipFill>
          <a:blip r:embed="rId2"/>
          <a:stretch>
            <a:fillRect/>
          </a:stretch>
        </p:blipFill>
        <p:spPr>
          <a:xfrm>
            <a:off x="838200" y="1371600"/>
            <a:ext cx="5887272" cy="2276793"/>
          </a:xfrm>
          <a:prstGeom prst="rect">
            <a:avLst/>
          </a:prstGeom>
        </p:spPr>
      </p:pic>
      <p:pic>
        <p:nvPicPr>
          <p:cNvPr id="6" name="Picture 5" descr="data analysis, financial business graph chart fluctuation flat ...">
            <a:extLst>
              <a:ext uri="{FF2B5EF4-FFF2-40B4-BE49-F238E27FC236}">
                <a16:creationId xmlns:a16="http://schemas.microsoft.com/office/drawing/2014/main" id="{BE6A8D10-2CB3-6008-4470-8C5A624B04C1}"/>
              </a:ext>
            </a:extLst>
          </p:cNvPr>
          <p:cNvPicPr>
            <a:picLocks noChangeAspect="1"/>
          </p:cNvPicPr>
          <p:nvPr/>
        </p:nvPicPr>
        <p:blipFill>
          <a:blip r:embed="rId3"/>
          <a:stretch>
            <a:fillRect/>
          </a:stretch>
        </p:blipFill>
        <p:spPr>
          <a:xfrm>
            <a:off x="8424885" y="1371600"/>
            <a:ext cx="2929812" cy="2929812"/>
          </a:xfrm>
          <a:prstGeom prst="rect">
            <a:avLst/>
          </a:prstGeom>
        </p:spPr>
      </p:pic>
    </p:spTree>
    <p:extLst>
      <p:ext uri="{BB962C8B-B14F-4D97-AF65-F5344CB8AC3E}">
        <p14:creationId xmlns:p14="http://schemas.microsoft.com/office/powerpoint/2010/main" val="1521452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7F43-5349-F679-CB5C-AB88E7C79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75FB2-6709-544E-1F9C-91409CD51ED3}"/>
              </a:ext>
            </a:extLst>
          </p:cNvPr>
          <p:cNvSpPr>
            <a:spLocks noGrp="1"/>
          </p:cNvSpPr>
          <p:nvPr>
            <p:ph type="title"/>
          </p:nvPr>
        </p:nvSpPr>
        <p:spPr>
          <a:xfrm>
            <a:off x="838200" y="365126"/>
            <a:ext cx="10515600" cy="437308"/>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Q3: Is there any correlation between dollar index and USD to SEK rate?</a:t>
            </a:r>
          </a:p>
        </p:txBody>
      </p:sp>
      <p:sp>
        <p:nvSpPr>
          <p:cNvPr id="3" name="Content Placeholder 2">
            <a:extLst>
              <a:ext uri="{FF2B5EF4-FFF2-40B4-BE49-F238E27FC236}">
                <a16:creationId xmlns:a16="http://schemas.microsoft.com/office/drawing/2014/main" id="{542ABD27-0112-8CD6-6CA2-4E4D4100CCC6}"/>
              </a:ext>
            </a:extLst>
          </p:cNvPr>
          <p:cNvSpPr>
            <a:spLocks noGrp="1"/>
          </p:cNvSpPr>
          <p:nvPr>
            <p:ph idx="1"/>
          </p:nvPr>
        </p:nvSpPr>
        <p:spPr>
          <a:xfrm>
            <a:off x="838200" y="1371600"/>
            <a:ext cx="10515600" cy="4805363"/>
          </a:xfrm>
        </p:spPr>
        <p:txBody>
          <a:bodyPr>
            <a:normAutofit/>
          </a:bodyPr>
          <a:lstStyle/>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Correlation between </a:t>
            </a:r>
            <a:r>
              <a:rPr lang="en-US" sz="1400" dirty="0" err="1">
                <a:latin typeface="Candara" panose="020E0502030303020204" pitchFamily="34" charset="0"/>
              </a:rPr>
              <a:t>dollar_index</a:t>
            </a:r>
            <a:r>
              <a:rPr lang="en-US" sz="1400" dirty="0">
                <a:latin typeface="Candara" panose="020E0502030303020204" pitchFamily="34" charset="0"/>
              </a:rPr>
              <a:t> and rate = 0.77</a:t>
            </a:r>
          </a:p>
          <a:p>
            <a:pPr marL="0" indent="0">
              <a:buNone/>
            </a:pPr>
            <a:endParaRPr lang="en-US" sz="1400" dirty="0">
              <a:latin typeface="Candara" panose="020E0502030303020204" pitchFamily="34" charset="0"/>
            </a:endParaRP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The correlation between the Dollar Index and USD to SEK exchange rate in levels is 0.77, indicating a strong positive association. This is consistent with economic intuition because a stronger U.S. dollar generally increases the USD to SEK exchange rate. </a:t>
            </a:r>
          </a:p>
          <a:p>
            <a:pPr marL="0" indent="0">
              <a:buNone/>
            </a:pPr>
            <a:r>
              <a:rPr lang="en-US" sz="1400" dirty="0">
                <a:latin typeface="Candara" panose="020E0502030303020204" pitchFamily="34" charset="0"/>
              </a:rPr>
              <a:t>However, because both variables are time-series levels, this correlation may partly capture common movements over time and persistence in the series. Therefore, correlation based on daily returns is required to assess whether short-term changes in the Dollar Index are associated with corresponding changes in USD to SEK.</a:t>
            </a:r>
          </a:p>
          <a:p>
            <a:pPr marL="0" indent="0">
              <a:buNone/>
            </a:pPr>
            <a:endParaRPr lang="en-US" sz="1400" dirty="0">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3_correlation_dollar_index_vs_rate</a:t>
            </a:r>
            <a:endParaRPr lang="en-US" dirty="0"/>
          </a:p>
        </p:txBody>
      </p:sp>
      <p:pic>
        <p:nvPicPr>
          <p:cNvPr id="4" name="Picture 3" descr="Correlation Coefficient Formula">
            <a:extLst>
              <a:ext uri="{FF2B5EF4-FFF2-40B4-BE49-F238E27FC236}">
                <a16:creationId xmlns:a16="http://schemas.microsoft.com/office/drawing/2014/main" id="{427E2318-5FEC-3446-6382-8CA82EC2ADA1}"/>
              </a:ext>
            </a:extLst>
          </p:cNvPr>
          <p:cNvPicPr>
            <a:picLocks noChangeAspect="1"/>
          </p:cNvPicPr>
          <p:nvPr/>
        </p:nvPicPr>
        <p:blipFill>
          <a:blip r:embed="rId2"/>
          <a:stretch>
            <a:fillRect/>
          </a:stretch>
        </p:blipFill>
        <p:spPr>
          <a:xfrm>
            <a:off x="6545025" y="1415726"/>
            <a:ext cx="4808775" cy="2013274"/>
          </a:xfrm>
          <a:prstGeom prst="rect">
            <a:avLst/>
          </a:prstGeom>
        </p:spPr>
      </p:pic>
    </p:spTree>
    <p:extLst>
      <p:ext uri="{BB962C8B-B14F-4D97-AF65-F5344CB8AC3E}">
        <p14:creationId xmlns:p14="http://schemas.microsoft.com/office/powerpoint/2010/main" val="870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43B08-3076-14C6-E50F-A578C0E68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EB94D-ED33-870D-9143-848D846EAD85}"/>
              </a:ext>
            </a:extLst>
          </p:cNvPr>
          <p:cNvSpPr>
            <a:spLocks noGrp="1"/>
          </p:cNvSpPr>
          <p:nvPr>
            <p:ph type="title"/>
          </p:nvPr>
        </p:nvSpPr>
        <p:spPr>
          <a:xfrm>
            <a:off x="838200" y="365126"/>
            <a:ext cx="10515600" cy="437308"/>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Q4: Is there any correlation between percentage change in </a:t>
            </a:r>
            <a:r>
              <a:rPr lang="en-US" sz="1800" dirty="0" err="1">
                <a:solidFill>
                  <a:schemeClr val="accent1">
                    <a:lumMod val="50000"/>
                  </a:schemeClr>
                </a:solidFill>
                <a:latin typeface="Candara" panose="020E0502030303020204" pitchFamily="34" charset="0"/>
                <a:ea typeface="Cambria" panose="02040503050406030204" pitchFamily="18" charset="0"/>
              </a:rPr>
              <a:t>dollar_index</a:t>
            </a:r>
            <a:r>
              <a:rPr lang="en-US" sz="1800" dirty="0">
                <a:solidFill>
                  <a:schemeClr val="accent1">
                    <a:lumMod val="50000"/>
                  </a:schemeClr>
                </a:solidFill>
                <a:latin typeface="Candara" panose="020E0502030303020204" pitchFamily="34" charset="0"/>
                <a:ea typeface="Cambria" panose="02040503050406030204" pitchFamily="18" charset="0"/>
              </a:rPr>
              <a:t> and percentage change in rate?</a:t>
            </a:r>
          </a:p>
        </p:txBody>
      </p:sp>
      <p:sp>
        <p:nvSpPr>
          <p:cNvPr id="3" name="Content Placeholder 2">
            <a:extLst>
              <a:ext uri="{FF2B5EF4-FFF2-40B4-BE49-F238E27FC236}">
                <a16:creationId xmlns:a16="http://schemas.microsoft.com/office/drawing/2014/main" id="{FE08BB69-D33A-0DFE-1E79-B26C2DA59CB1}"/>
              </a:ext>
            </a:extLst>
          </p:cNvPr>
          <p:cNvSpPr>
            <a:spLocks noGrp="1"/>
          </p:cNvSpPr>
          <p:nvPr>
            <p:ph idx="1"/>
          </p:nvPr>
        </p:nvSpPr>
        <p:spPr>
          <a:xfrm>
            <a:off x="838201" y="1371600"/>
            <a:ext cx="4300728" cy="4805363"/>
          </a:xfrm>
        </p:spPr>
        <p:txBody>
          <a:bodyPr>
            <a:normAutofit lnSpcReduction="10000"/>
          </a:bodyPr>
          <a:lstStyle/>
          <a:p>
            <a:pPr marL="0" indent="0">
              <a:buNone/>
            </a:pPr>
            <a:r>
              <a:rPr lang="en-US" sz="1400" dirty="0">
                <a:latin typeface="Candara" panose="020E0502030303020204" pitchFamily="34" charset="0"/>
              </a:rPr>
              <a:t>Correlation between pct change in </a:t>
            </a:r>
            <a:r>
              <a:rPr lang="en-US" sz="1400" dirty="0" err="1">
                <a:latin typeface="Candara" panose="020E0502030303020204" pitchFamily="34" charset="0"/>
              </a:rPr>
              <a:t>dollar_index</a:t>
            </a:r>
            <a:r>
              <a:rPr lang="en-US" sz="1400" dirty="0">
                <a:latin typeface="Candara" panose="020E0502030303020204" pitchFamily="34" charset="0"/>
              </a:rPr>
              <a:t> and pct change in rate = 0.81</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The correlation between the daily percentage changes of the Dollar Index and the USD to SEK exchange rate is 0.81, indicating a strong positive relationship. This means that on days when the Dollar Index increases, the USD to SEK exchange rate also tends to increase, and vice versa. The correlation is calculated using daily percentage changes, so the effect of common trends over time is reduced. Therefore, this result more reliably shows the overall relationship between movements in the Dollar Index and the USD to SEK exchange rate in limited period.</a:t>
            </a:r>
          </a:p>
          <a:p>
            <a:pPr marL="0" indent="0">
              <a:buNone/>
            </a:pPr>
            <a:r>
              <a:rPr lang="en-US" sz="1400" dirty="0">
                <a:latin typeface="Candara" panose="020E0502030303020204" pitchFamily="34" charset="0"/>
              </a:rPr>
              <a:t>Although the return correlation is strong, correlation alone does not imply causation. Both variables may respond simultaneously to common macroeconomic factors.</a:t>
            </a:r>
          </a:p>
          <a:p>
            <a:pPr marL="0" indent="0">
              <a:buNone/>
            </a:pPr>
            <a:endParaRPr lang="en-US" sz="1400" dirty="0">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4_correlation_dollar_index_pct_chng </a:t>
            </a:r>
            <a:r>
              <a:rPr lang="en-US" sz="1400" i="1" dirty="0" err="1">
                <a:solidFill>
                  <a:schemeClr val="bg1">
                    <a:lumMod val="50000"/>
                  </a:schemeClr>
                </a:solidFill>
                <a:latin typeface="Candara" panose="020E0502030303020204" pitchFamily="34" charset="0"/>
              </a:rPr>
              <a:t>vs_rate_pct_chng</a:t>
            </a:r>
            <a:endParaRPr lang="en-US" dirty="0"/>
          </a:p>
        </p:txBody>
      </p:sp>
      <p:pic>
        <p:nvPicPr>
          <p:cNvPr id="5" name="Picture 4" descr="Change is coming Images - Free Download on Magnific (formerly Freepik)">
            <a:extLst>
              <a:ext uri="{FF2B5EF4-FFF2-40B4-BE49-F238E27FC236}">
                <a16:creationId xmlns:a16="http://schemas.microsoft.com/office/drawing/2014/main" id="{1A5D87E5-AA3A-563D-15F3-F06F1D37FADD}"/>
              </a:ext>
            </a:extLst>
          </p:cNvPr>
          <p:cNvPicPr>
            <a:picLocks noChangeAspect="1"/>
          </p:cNvPicPr>
          <p:nvPr/>
        </p:nvPicPr>
        <p:blipFill>
          <a:blip r:embed="rId2"/>
          <a:stretch>
            <a:fillRect/>
          </a:stretch>
        </p:blipFill>
        <p:spPr>
          <a:xfrm>
            <a:off x="6742237" y="2827176"/>
            <a:ext cx="4611563" cy="3072298"/>
          </a:xfrm>
          <a:prstGeom prst="rect">
            <a:avLst/>
          </a:prstGeom>
        </p:spPr>
      </p:pic>
    </p:spTree>
    <p:extLst>
      <p:ext uri="{BB962C8B-B14F-4D97-AF65-F5344CB8AC3E}">
        <p14:creationId xmlns:p14="http://schemas.microsoft.com/office/powerpoint/2010/main" val="393686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59F5-A52B-4E75-4643-F35AF4197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6828C-2321-93DE-7D41-4C30CA99D938}"/>
              </a:ext>
            </a:extLst>
          </p:cNvPr>
          <p:cNvSpPr>
            <a:spLocks noGrp="1"/>
          </p:cNvSpPr>
          <p:nvPr>
            <p:ph type="title"/>
          </p:nvPr>
        </p:nvSpPr>
        <p:spPr>
          <a:xfrm>
            <a:off x="838200" y="365126"/>
            <a:ext cx="10515600" cy="437308"/>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Q5: Is there any correlation between percentage change in </a:t>
            </a:r>
            <a:r>
              <a:rPr lang="en-US" sz="1800" dirty="0" err="1">
                <a:solidFill>
                  <a:schemeClr val="accent1">
                    <a:lumMod val="50000"/>
                  </a:schemeClr>
                </a:solidFill>
                <a:latin typeface="Candara" panose="020E0502030303020204" pitchFamily="34" charset="0"/>
                <a:ea typeface="Cambria" panose="02040503050406030204" pitchFamily="18" charset="0"/>
              </a:rPr>
              <a:t>gold_price</a:t>
            </a:r>
            <a:r>
              <a:rPr lang="en-US" sz="1800" dirty="0">
                <a:solidFill>
                  <a:schemeClr val="accent1">
                    <a:lumMod val="50000"/>
                  </a:schemeClr>
                </a:solidFill>
                <a:latin typeface="Candara" panose="020E0502030303020204" pitchFamily="34" charset="0"/>
                <a:ea typeface="Cambria" panose="02040503050406030204" pitchFamily="18" charset="0"/>
              </a:rPr>
              <a:t> and percentage change in rate?</a:t>
            </a:r>
          </a:p>
        </p:txBody>
      </p:sp>
      <p:sp>
        <p:nvSpPr>
          <p:cNvPr id="3" name="Content Placeholder 2">
            <a:extLst>
              <a:ext uri="{FF2B5EF4-FFF2-40B4-BE49-F238E27FC236}">
                <a16:creationId xmlns:a16="http://schemas.microsoft.com/office/drawing/2014/main" id="{CA26EBB3-5A9B-D3EF-233E-7A54C5400A56}"/>
              </a:ext>
            </a:extLst>
          </p:cNvPr>
          <p:cNvSpPr>
            <a:spLocks noGrp="1"/>
          </p:cNvSpPr>
          <p:nvPr>
            <p:ph idx="1"/>
          </p:nvPr>
        </p:nvSpPr>
        <p:spPr>
          <a:xfrm>
            <a:off x="838200" y="979714"/>
            <a:ext cx="4794504" cy="5165054"/>
          </a:xfrm>
        </p:spPr>
        <p:txBody>
          <a:bodyPr>
            <a:normAutofit/>
          </a:bodyPr>
          <a:lstStyle/>
          <a:p>
            <a:pPr marL="0" indent="0">
              <a:buNone/>
            </a:pPr>
            <a:r>
              <a:rPr lang="en-US" sz="1400" dirty="0">
                <a:latin typeface="Candara" panose="020E0502030303020204" pitchFamily="34" charset="0"/>
              </a:rPr>
              <a:t>Correlation between pct change in </a:t>
            </a:r>
            <a:r>
              <a:rPr lang="en-US" sz="1400" dirty="0" err="1">
                <a:latin typeface="Candara" panose="020E0502030303020204" pitchFamily="34" charset="0"/>
              </a:rPr>
              <a:t>gold_price</a:t>
            </a:r>
            <a:r>
              <a:rPr lang="en-US" sz="1400" dirty="0">
                <a:latin typeface="Candara" panose="020E0502030303020204" pitchFamily="34" charset="0"/>
              </a:rPr>
              <a:t> and pct change in rate = 0.08</a:t>
            </a: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The correlation between daily percentage changes in gold prices and the USD to SEK exchange rate is 0.08, indicating almost no relationship between their daily movements. </a:t>
            </a:r>
          </a:p>
          <a:p>
            <a:pPr marL="0" indent="0">
              <a:buNone/>
            </a:pPr>
            <a:r>
              <a:rPr lang="en-US" sz="1400" dirty="0">
                <a:latin typeface="Candara" panose="020E0502030303020204" pitchFamily="34" charset="0"/>
              </a:rPr>
              <a:t>Unlike the Dollar Index, which shows a strong connection with USD to SEK, changes in gold prices do not appear to have a meaningful impact on daily USD to SEK movements. </a:t>
            </a:r>
          </a:p>
          <a:p>
            <a:pPr marL="0" indent="0">
              <a:buNone/>
            </a:pPr>
            <a:r>
              <a:rPr lang="en-US" sz="1400" dirty="0">
                <a:latin typeface="Candara" panose="020E0502030303020204" pitchFamily="34" charset="0"/>
              </a:rPr>
              <a:t>This suggests that gold prices and the Swedish krona exchange rate are mainly influenced by different market factors. </a:t>
            </a:r>
          </a:p>
          <a:p>
            <a:pPr marL="0" indent="0">
              <a:buNone/>
            </a:pPr>
            <a:r>
              <a:rPr lang="en-US" sz="1400" dirty="0">
                <a:latin typeface="Candara" panose="020E0502030303020204" pitchFamily="34" charset="0"/>
              </a:rPr>
              <a:t>However, this conclusion is based only on Pearson correlation, which measures linear association and does not capture possible non-linear relationships or delayed effects between the variables. Therefore, the weak correlation suggests limited linear dependency, but it does not completely rule out other forms of interaction between gold prices and the exchange rate.</a:t>
            </a:r>
          </a:p>
          <a:p>
            <a:pPr marL="0" indent="0">
              <a:buNone/>
            </a:pPr>
            <a:r>
              <a:rPr lang="en-US" sz="1400" i="1" dirty="0">
                <a:solidFill>
                  <a:schemeClr val="bg1">
                    <a:lumMod val="50000"/>
                  </a:schemeClr>
                </a:solidFill>
                <a:latin typeface="Candara" panose="020E0502030303020204" pitchFamily="34" charset="0"/>
              </a:rPr>
              <a:t>Script name: 5_correlation_gold_price_pct_chng_vs_rate_pct_chng</a:t>
            </a:r>
            <a:endParaRPr lang="en-US" dirty="0"/>
          </a:p>
        </p:txBody>
      </p:sp>
      <p:pic>
        <p:nvPicPr>
          <p:cNvPr id="4" name="Picture 3" descr="5 Steps in the Effective Change Management Process - DNSstuff">
            <a:extLst>
              <a:ext uri="{FF2B5EF4-FFF2-40B4-BE49-F238E27FC236}">
                <a16:creationId xmlns:a16="http://schemas.microsoft.com/office/drawing/2014/main" id="{5EF2CBE9-92F4-6025-72E0-A205F5E69270}"/>
              </a:ext>
            </a:extLst>
          </p:cNvPr>
          <p:cNvPicPr>
            <a:picLocks noChangeAspect="1"/>
          </p:cNvPicPr>
          <p:nvPr/>
        </p:nvPicPr>
        <p:blipFill>
          <a:blip r:embed="rId2"/>
          <a:stretch>
            <a:fillRect/>
          </a:stretch>
        </p:blipFill>
        <p:spPr>
          <a:xfrm>
            <a:off x="6483096" y="2380606"/>
            <a:ext cx="4870704" cy="3365847"/>
          </a:xfrm>
          <a:prstGeom prst="rect">
            <a:avLst/>
          </a:prstGeom>
        </p:spPr>
      </p:pic>
    </p:spTree>
    <p:extLst>
      <p:ext uri="{BB962C8B-B14F-4D97-AF65-F5344CB8AC3E}">
        <p14:creationId xmlns:p14="http://schemas.microsoft.com/office/powerpoint/2010/main" val="878293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F3C3-E988-2442-3760-4EC97C8EC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76BFB-8427-65C1-B624-1C83B87285CD}"/>
              </a:ext>
            </a:extLst>
          </p:cNvPr>
          <p:cNvSpPr>
            <a:spLocks noGrp="1"/>
          </p:cNvSpPr>
          <p:nvPr>
            <p:ph type="title"/>
          </p:nvPr>
        </p:nvSpPr>
        <p:spPr>
          <a:xfrm>
            <a:off x="838200" y="365126"/>
            <a:ext cx="10515600" cy="437308"/>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Q6: Does yesterday's Dollar Index influence today's USD to SEK rate?</a:t>
            </a:r>
          </a:p>
        </p:txBody>
      </p:sp>
      <p:sp>
        <p:nvSpPr>
          <p:cNvPr id="3" name="Content Placeholder 2">
            <a:extLst>
              <a:ext uri="{FF2B5EF4-FFF2-40B4-BE49-F238E27FC236}">
                <a16:creationId xmlns:a16="http://schemas.microsoft.com/office/drawing/2014/main" id="{2E3754CE-FAAE-9957-7519-EAF6FCAB9CEC}"/>
              </a:ext>
            </a:extLst>
          </p:cNvPr>
          <p:cNvSpPr>
            <a:spLocks noGrp="1"/>
          </p:cNvSpPr>
          <p:nvPr>
            <p:ph idx="1"/>
          </p:nvPr>
        </p:nvSpPr>
        <p:spPr>
          <a:xfrm>
            <a:off x="6164424" y="1315616"/>
            <a:ext cx="5046307" cy="4805363"/>
          </a:xfrm>
        </p:spPr>
        <p:txBody>
          <a:bodyPr>
            <a:normAutofit/>
          </a:bodyPr>
          <a:lstStyle/>
          <a:p>
            <a:pPr marL="0" indent="0">
              <a:buNone/>
            </a:pPr>
            <a:r>
              <a:rPr lang="en-US" sz="1400" dirty="0">
                <a:latin typeface="Candara" panose="020E0502030303020204" pitchFamily="34" charset="0"/>
              </a:rPr>
              <a:t>Correlation between previous day </a:t>
            </a:r>
            <a:r>
              <a:rPr lang="en-US" sz="1400" dirty="0" err="1">
                <a:latin typeface="Candara" panose="020E0502030303020204" pitchFamily="34" charset="0"/>
              </a:rPr>
              <a:t>dollar_index</a:t>
            </a:r>
            <a:r>
              <a:rPr lang="en-US" sz="1400" dirty="0">
                <a:latin typeface="Candara" panose="020E0502030303020204" pitchFamily="34" charset="0"/>
              </a:rPr>
              <a:t> and present day USD to SEK rate = 0.76</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A lag correlation of 0.76 indicates a strong positive relationship between yesterday's Dollar Index and today's USD to SEK exchange rate. This suggests that when the U.S. dollar strengthens globally, the Swedish krona often weakens against the dollar on the following trading day. The result also implies that changes in the Dollar Index may precede movements in the USD to SEK exchange rate, indicating a possible lead–lag relationship rather than only a same-day association. </a:t>
            </a:r>
          </a:p>
          <a:p>
            <a:pPr marL="0" indent="0">
              <a:buNone/>
            </a:pPr>
            <a:r>
              <a:rPr lang="en-US" sz="1400" dirty="0">
                <a:latin typeface="Candara" panose="020E0502030303020204" pitchFamily="34" charset="0"/>
              </a:rPr>
              <a:t>However, this is a measure of association, not causation, so other economic and market factors may also contribute to the exchange rate movements.</a:t>
            </a:r>
          </a:p>
          <a:p>
            <a:pPr marL="0" indent="0">
              <a:buNone/>
            </a:pPr>
            <a:endParaRPr lang="en-US" sz="1400" i="1" dirty="0">
              <a:solidFill>
                <a:schemeClr val="bg1">
                  <a:lumMod val="50000"/>
                </a:schemeClr>
              </a:solidFill>
              <a:latin typeface="Candara" panose="020E0502030303020204" pitchFamily="34" charset="0"/>
            </a:endParaRPr>
          </a:p>
          <a:p>
            <a:pPr marL="0" indent="0">
              <a:buNone/>
            </a:pPr>
            <a:endParaRPr lang="en-US" sz="1400" i="1" dirty="0">
              <a:solidFill>
                <a:schemeClr val="bg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6_correlation_lag_dollar_index_vs_rate</a:t>
            </a:r>
            <a:endParaRPr lang="en-US" dirty="0"/>
          </a:p>
        </p:txBody>
      </p:sp>
      <p:pic>
        <p:nvPicPr>
          <p:cNvPr id="6" name="Picture 5" descr="Next And Previous Buttons, Flat Design Royalty Free SVG, Cliparts, Vectors,  and Stock Illustration. Image 25118521.">
            <a:extLst>
              <a:ext uri="{FF2B5EF4-FFF2-40B4-BE49-F238E27FC236}">
                <a16:creationId xmlns:a16="http://schemas.microsoft.com/office/drawing/2014/main" id="{C2BB9A81-4F3E-61BF-C1A5-79AFEC4E695C}"/>
              </a:ext>
            </a:extLst>
          </p:cNvPr>
          <p:cNvPicPr>
            <a:picLocks noChangeAspect="1"/>
          </p:cNvPicPr>
          <p:nvPr/>
        </p:nvPicPr>
        <p:blipFill>
          <a:blip r:embed="rId2"/>
          <a:stretch>
            <a:fillRect/>
          </a:stretch>
        </p:blipFill>
        <p:spPr>
          <a:xfrm>
            <a:off x="838199" y="1315616"/>
            <a:ext cx="3993503" cy="2995127"/>
          </a:xfrm>
          <a:prstGeom prst="rect">
            <a:avLst/>
          </a:prstGeom>
        </p:spPr>
      </p:pic>
    </p:spTree>
    <p:extLst>
      <p:ext uri="{BB962C8B-B14F-4D97-AF65-F5344CB8AC3E}">
        <p14:creationId xmlns:p14="http://schemas.microsoft.com/office/powerpoint/2010/main" val="372298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9E15E-5EEF-2589-FF6B-605874EE5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62C4F-0228-5722-57EA-F3B10F131B2C}"/>
              </a:ext>
            </a:extLst>
          </p:cNvPr>
          <p:cNvSpPr>
            <a:spLocks noGrp="1"/>
          </p:cNvSpPr>
          <p:nvPr>
            <p:ph type="title"/>
          </p:nvPr>
        </p:nvSpPr>
        <p:spPr>
          <a:xfrm>
            <a:off x="838200" y="365126"/>
            <a:ext cx="10515600" cy="437308"/>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Q7: Does yesterday's Gold Price influence today's USD to SEK rate?</a:t>
            </a:r>
          </a:p>
        </p:txBody>
      </p:sp>
      <p:sp>
        <p:nvSpPr>
          <p:cNvPr id="3" name="Content Placeholder 2">
            <a:extLst>
              <a:ext uri="{FF2B5EF4-FFF2-40B4-BE49-F238E27FC236}">
                <a16:creationId xmlns:a16="http://schemas.microsoft.com/office/drawing/2014/main" id="{23E51DFA-D1E8-0B34-DC56-8DF01F859A0E}"/>
              </a:ext>
            </a:extLst>
          </p:cNvPr>
          <p:cNvSpPr>
            <a:spLocks noGrp="1"/>
          </p:cNvSpPr>
          <p:nvPr>
            <p:ph idx="1"/>
          </p:nvPr>
        </p:nvSpPr>
        <p:spPr>
          <a:xfrm>
            <a:off x="6164424" y="1315616"/>
            <a:ext cx="5046307" cy="4805363"/>
          </a:xfrm>
        </p:spPr>
        <p:txBody>
          <a:bodyPr>
            <a:normAutofit/>
          </a:bodyPr>
          <a:lstStyle/>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Correlation between previous day </a:t>
            </a:r>
            <a:r>
              <a:rPr lang="en-US" sz="1400" dirty="0" err="1">
                <a:latin typeface="Candara" panose="020E0502030303020204" pitchFamily="34" charset="0"/>
              </a:rPr>
              <a:t>gold_price</a:t>
            </a:r>
            <a:r>
              <a:rPr lang="en-US" sz="1400" dirty="0">
                <a:latin typeface="Candara" panose="020E0502030303020204" pitchFamily="34" charset="0"/>
              </a:rPr>
              <a:t> and present day USD to SEK rate = -0.79</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A lag correlation of −0.79 indicates a strong negative relationship between yesterday's gold price and today's USD to SEK exchange rate. This suggests that higher gold prices are often followed by a lower USD to SEK exchange rate on the next trading day, implying an appreciation of the Swedish krona against the U.S. dollar. The strong negative association also indicates that movements in the gold market may precede changes in the exchange rate, making gold prices a potentially useful leading indicator. </a:t>
            </a:r>
          </a:p>
          <a:p>
            <a:pPr marL="0" indent="0">
              <a:buNone/>
            </a:pPr>
            <a:r>
              <a:rPr lang="en-US" sz="1400" dirty="0">
                <a:latin typeface="Candara" panose="020E0502030303020204" pitchFamily="34" charset="0"/>
              </a:rPr>
              <a:t>However, this relationship reflects association rather than causation, and other economic and financial factors may also influence exchange rate movements.</a:t>
            </a:r>
            <a:endParaRPr lang="en-US" sz="1400" i="1" dirty="0">
              <a:solidFill>
                <a:schemeClr val="bg1">
                  <a:lumMod val="50000"/>
                </a:schemeClr>
              </a:solidFill>
              <a:latin typeface="Candara" panose="020E0502030303020204" pitchFamily="34" charset="0"/>
            </a:endParaRPr>
          </a:p>
          <a:p>
            <a:pPr marL="0" indent="0">
              <a:buNone/>
            </a:pPr>
            <a:endParaRPr lang="en-US" sz="1400" i="1" dirty="0">
              <a:solidFill>
                <a:schemeClr val="bg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7_correlation_lag_gold_price_vs_rate</a:t>
            </a:r>
            <a:endParaRPr lang="en-US" dirty="0"/>
          </a:p>
        </p:txBody>
      </p:sp>
      <p:pic>
        <p:nvPicPr>
          <p:cNvPr id="4" name="Picture 3" descr="Prev, next label. Next and previous button. Web buttons. Vector stock  illustration 29896259 Vector Art at Vecteezy">
            <a:extLst>
              <a:ext uri="{FF2B5EF4-FFF2-40B4-BE49-F238E27FC236}">
                <a16:creationId xmlns:a16="http://schemas.microsoft.com/office/drawing/2014/main" id="{FDD56F6F-286B-6F8B-4810-16189B97F96F}"/>
              </a:ext>
            </a:extLst>
          </p:cNvPr>
          <p:cNvPicPr>
            <a:picLocks noChangeAspect="1"/>
          </p:cNvPicPr>
          <p:nvPr/>
        </p:nvPicPr>
        <p:blipFill>
          <a:blip r:embed="rId2"/>
          <a:stretch>
            <a:fillRect/>
          </a:stretch>
        </p:blipFill>
        <p:spPr>
          <a:xfrm>
            <a:off x="838200" y="1711584"/>
            <a:ext cx="3889636" cy="2711126"/>
          </a:xfrm>
          <a:prstGeom prst="rect">
            <a:avLst/>
          </a:prstGeom>
        </p:spPr>
      </p:pic>
    </p:spTree>
    <p:extLst>
      <p:ext uri="{BB962C8B-B14F-4D97-AF65-F5344CB8AC3E}">
        <p14:creationId xmlns:p14="http://schemas.microsoft.com/office/powerpoint/2010/main" val="3759143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D2C52-2CAA-5780-DD4A-F2E7EA15B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475F4-19BB-0A4F-0B37-D4EFB4484D72}"/>
              </a:ext>
            </a:extLst>
          </p:cNvPr>
          <p:cNvSpPr>
            <a:spLocks noGrp="1"/>
          </p:cNvSpPr>
          <p:nvPr>
            <p:ph type="title"/>
          </p:nvPr>
        </p:nvSpPr>
        <p:spPr>
          <a:xfrm>
            <a:off x="838200" y="365126"/>
            <a:ext cx="10515600" cy="670572"/>
          </a:xfrm>
        </p:spPr>
        <p:txBody>
          <a:bodyPr>
            <a:no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Q8: What is the probability that the USD to SEK rate increases on the 2</a:t>
            </a:r>
            <a:r>
              <a:rPr lang="en-US" sz="1800" baseline="30000" dirty="0">
                <a:solidFill>
                  <a:schemeClr val="accent1">
                    <a:lumMod val="50000"/>
                  </a:schemeClr>
                </a:solidFill>
                <a:latin typeface="Candara" panose="020E0502030303020204" pitchFamily="34" charset="0"/>
                <a:ea typeface="Cambria" panose="02040503050406030204" pitchFamily="18" charset="0"/>
              </a:rPr>
              <a:t>nd</a:t>
            </a:r>
            <a:r>
              <a:rPr lang="en-US" sz="1800" dirty="0">
                <a:solidFill>
                  <a:schemeClr val="accent1">
                    <a:lumMod val="50000"/>
                  </a:schemeClr>
                </a:solidFill>
                <a:latin typeface="Candara" panose="020E0502030303020204" pitchFamily="34" charset="0"/>
                <a:ea typeface="Cambria" panose="02040503050406030204" pitchFamily="18" charset="0"/>
              </a:rPr>
              <a:t> day, given that it increased on the 1</a:t>
            </a:r>
            <a:r>
              <a:rPr lang="en-US" sz="1800" baseline="30000" dirty="0">
                <a:solidFill>
                  <a:schemeClr val="accent1">
                    <a:lumMod val="50000"/>
                  </a:schemeClr>
                </a:solidFill>
                <a:latin typeface="Candara" panose="020E0502030303020204" pitchFamily="34" charset="0"/>
                <a:ea typeface="Cambria" panose="02040503050406030204" pitchFamily="18" charset="0"/>
              </a:rPr>
              <a:t>st</a:t>
            </a:r>
            <a:r>
              <a:rPr lang="en-US" sz="1800" dirty="0">
                <a:solidFill>
                  <a:schemeClr val="accent1">
                    <a:lumMod val="50000"/>
                  </a:schemeClr>
                </a:solidFill>
                <a:latin typeface="Candara" panose="020E0502030303020204" pitchFamily="34" charset="0"/>
                <a:ea typeface="Cambria" panose="02040503050406030204" pitchFamily="18" charset="0"/>
              </a:rPr>
              <a:t> day?</a:t>
            </a:r>
          </a:p>
        </p:txBody>
      </p:sp>
      <p:sp>
        <p:nvSpPr>
          <p:cNvPr id="3" name="Content Placeholder 2">
            <a:extLst>
              <a:ext uri="{FF2B5EF4-FFF2-40B4-BE49-F238E27FC236}">
                <a16:creationId xmlns:a16="http://schemas.microsoft.com/office/drawing/2014/main" id="{31D4C11F-2D9E-4DE0-C778-434D101F2608}"/>
              </a:ext>
            </a:extLst>
          </p:cNvPr>
          <p:cNvSpPr>
            <a:spLocks noGrp="1"/>
          </p:cNvSpPr>
          <p:nvPr>
            <p:ph idx="1"/>
          </p:nvPr>
        </p:nvSpPr>
        <p:spPr>
          <a:xfrm>
            <a:off x="838200" y="1296956"/>
            <a:ext cx="4282440" cy="4655976"/>
          </a:xfrm>
        </p:spPr>
        <p:txBody>
          <a:bodyPr>
            <a:normAutofit lnSpcReduction="10000"/>
          </a:bodyPr>
          <a:lstStyle/>
          <a:p>
            <a:pPr marL="0" indent="0">
              <a:buNone/>
            </a:pPr>
            <a:r>
              <a:rPr lang="en-US" sz="1400" dirty="0">
                <a:latin typeface="Candara" panose="020E0502030303020204" pitchFamily="34" charset="0"/>
              </a:rPr>
              <a:t>Probability of an increased rate in 2</a:t>
            </a:r>
            <a:r>
              <a:rPr lang="en-US" sz="1400" baseline="30000" dirty="0">
                <a:latin typeface="Candara" panose="020E0502030303020204" pitchFamily="34" charset="0"/>
              </a:rPr>
              <a:t>nd</a:t>
            </a:r>
            <a:r>
              <a:rPr lang="en-US" sz="1400" dirty="0">
                <a:latin typeface="Candara" panose="020E0502030303020204" pitchFamily="34" charset="0"/>
              </a:rPr>
              <a:t> day given an increased rate in 1</a:t>
            </a:r>
            <a:r>
              <a:rPr lang="en-US" sz="1400" baseline="30000" dirty="0">
                <a:latin typeface="Candara" panose="020E0502030303020204" pitchFamily="34" charset="0"/>
              </a:rPr>
              <a:t>st</a:t>
            </a:r>
            <a:r>
              <a:rPr lang="en-US" sz="1400" dirty="0">
                <a:latin typeface="Candara" panose="020E0502030303020204" pitchFamily="34" charset="0"/>
              </a:rPr>
              <a:t> day is 0.49.</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The probability of an increased USD to SEK rate on the second day, given that the rate increased on the first day, is 0.49. This result weakens the possibility of predicting the next day's movement based solely on the current day's increase. Since the probability is very close to 0.50, there is no clear tendency for an increase to be followed by another increase. In other words, a positive movement on the current day does not create any noticeable advantage in anticipating a similar movement on the following day. This suggests that consecutive daily increases occur almost randomly rather than following a consistent continuation pattern.</a:t>
            </a:r>
          </a:p>
          <a:p>
            <a:pPr marL="0" indent="0">
              <a:buNone/>
            </a:pPr>
            <a:endParaRPr lang="en-US" sz="1400" i="1" dirty="0">
              <a:solidFill>
                <a:schemeClr val="bg1">
                  <a:lumMod val="50000"/>
                </a:schemeClr>
              </a:solidFill>
              <a:latin typeface="Candara" panose="020E0502030303020204" pitchFamily="34" charset="0"/>
            </a:endParaRPr>
          </a:p>
          <a:p>
            <a:pPr marL="0" indent="0">
              <a:buNone/>
            </a:pPr>
            <a:endParaRPr lang="en-US" sz="1400" i="1" dirty="0">
              <a:solidFill>
                <a:schemeClr val="bg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8_prob_of_2</a:t>
            </a:r>
            <a:r>
              <a:rPr lang="en-US" sz="1400" i="1" baseline="30000" dirty="0">
                <a:solidFill>
                  <a:schemeClr val="bg1">
                    <a:lumMod val="50000"/>
                  </a:schemeClr>
                </a:solidFill>
                <a:latin typeface="Candara" panose="020E0502030303020204" pitchFamily="34" charset="0"/>
              </a:rPr>
              <a:t>nd</a:t>
            </a:r>
            <a:r>
              <a:rPr lang="en-US" sz="1400" i="1" dirty="0">
                <a:solidFill>
                  <a:schemeClr val="bg1">
                    <a:lumMod val="50000"/>
                  </a:schemeClr>
                </a:solidFill>
                <a:latin typeface="Candara" panose="020E0502030303020204" pitchFamily="34" charset="0"/>
              </a:rPr>
              <a:t>_day_rate_increase_given_1</a:t>
            </a:r>
            <a:r>
              <a:rPr lang="en-US" sz="1400" i="1" baseline="30000" dirty="0">
                <a:solidFill>
                  <a:schemeClr val="bg1">
                    <a:lumMod val="50000"/>
                  </a:schemeClr>
                </a:solidFill>
                <a:latin typeface="Candara" panose="020E0502030303020204" pitchFamily="34" charset="0"/>
              </a:rPr>
              <a:t>st</a:t>
            </a:r>
            <a:r>
              <a:rPr lang="en-US" sz="1400" i="1" dirty="0">
                <a:solidFill>
                  <a:schemeClr val="bg1">
                    <a:lumMod val="50000"/>
                  </a:schemeClr>
                </a:solidFill>
                <a:latin typeface="Candara" panose="020E0502030303020204" pitchFamily="34" charset="0"/>
              </a:rPr>
              <a:t>_day_rate_increase</a:t>
            </a:r>
            <a:endParaRPr lang="en-US" dirty="0"/>
          </a:p>
        </p:txBody>
      </p:sp>
      <p:pic>
        <p:nvPicPr>
          <p:cNvPr id="7" name="Picture 6">
            <a:extLst>
              <a:ext uri="{FF2B5EF4-FFF2-40B4-BE49-F238E27FC236}">
                <a16:creationId xmlns:a16="http://schemas.microsoft.com/office/drawing/2014/main" id="{550376A6-6166-2ED0-4438-337DF6700F00}"/>
              </a:ext>
            </a:extLst>
          </p:cNvPr>
          <p:cNvPicPr>
            <a:picLocks noChangeAspect="1"/>
          </p:cNvPicPr>
          <p:nvPr/>
        </p:nvPicPr>
        <p:blipFill>
          <a:blip r:embed="rId2"/>
          <a:stretch>
            <a:fillRect/>
          </a:stretch>
        </p:blipFill>
        <p:spPr>
          <a:xfrm>
            <a:off x="6876288" y="1398523"/>
            <a:ext cx="4477511" cy="2986465"/>
          </a:xfrm>
          <a:prstGeom prst="rect">
            <a:avLst/>
          </a:prstGeom>
        </p:spPr>
      </p:pic>
    </p:spTree>
    <p:extLst>
      <p:ext uri="{BB962C8B-B14F-4D97-AF65-F5344CB8AC3E}">
        <p14:creationId xmlns:p14="http://schemas.microsoft.com/office/powerpoint/2010/main" val="1407095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B7A8D-1232-6DC2-E246-5B31E282A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AE9F8-22C5-5CB6-6F8C-0CCC678139B9}"/>
              </a:ext>
            </a:extLst>
          </p:cNvPr>
          <p:cNvSpPr>
            <a:spLocks noGrp="1"/>
          </p:cNvSpPr>
          <p:nvPr>
            <p:ph type="title"/>
          </p:nvPr>
        </p:nvSpPr>
        <p:spPr>
          <a:xfrm>
            <a:off x="838200" y="365125"/>
            <a:ext cx="10515600" cy="819863"/>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Q9: What is the probability that the USD to SEK rate increases on the 3rd day, given that it increased on the 1</a:t>
            </a:r>
            <a:r>
              <a:rPr lang="en-US" sz="1800" baseline="30000" dirty="0">
                <a:solidFill>
                  <a:schemeClr val="accent1">
                    <a:lumMod val="50000"/>
                  </a:schemeClr>
                </a:solidFill>
                <a:latin typeface="Candara" panose="020E0502030303020204" pitchFamily="34" charset="0"/>
                <a:ea typeface="Cambria" panose="02040503050406030204" pitchFamily="18" charset="0"/>
              </a:rPr>
              <a:t>st</a:t>
            </a:r>
            <a:r>
              <a:rPr lang="en-US" sz="1800" dirty="0">
                <a:solidFill>
                  <a:schemeClr val="accent1">
                    <a:lumMod val="50000"/>
                  </a:schemeClr>
                </a:solidFill>
                <a:latin typeface="Candara" panose="020E0502030303020204" pitchFamily="34" charset="0"/>
                <a:ea typeface="Cambria" panose="02040503050406030204" pitchFamily="18" charset="0"/>
              </a:rPr>
              <a:t> and 2</a:t>
            </a:r>
            <a:r>
              <a:rPr lang="en-US" sz="1800" baseline="30000" dirty="0">
                <a:solidFill>
                  <a:schemeClr val="accent1">
                    <a:lumMod val="50000"/>
                  </a:schemeClr>
                </a:solidFill>
                <a:latin typeface="Candara" panose="020E0502030303020204" pitchFamily="34" charset="0"/>
                <a:ea typeface="Cambria" panose="02040503050406030204" pitchFamily="18" charset="0"/>
              </a:rPr>
              <a:t>nd</a:t>
            </a:r>
            <a:r>
              <a:rPr lang="en-US" sz="1800" dirty="0">
                <a:solidFill>
                  <a:schemeClr val="accent1">
                    <a:lumMod val="50000"/>
                  </a:schemeClr>
                </a:solidFill>
                <a:latin typeface="Candara" panose="020E0502030303020204" pitchFamily="34" charset="0"/>
                <a:ea typeface="Cambria" panose="02040503050406030204" pitchFamily="18" charset="0"/>
              </a:rPr>
              <a:t> day?</a:t>
            </a:r>
          </a:p>
        </p:txBody>
      </p:sp>
      <p:sp>
        <p:nvSpPr>
          <p:cNvPr id="3" name="Content Placeholder 2">
            <a:extLst>
              <a:ext uri="{FF2B5EF4-FFF2-40B4-BE49-F238E27FC236}">
                <a16:creationId xmlns:a16="http://schemas.microsoft.com/office/drawing/2014/main" id="{D318BBDE-8D5A-4A32-1D9B-9D90EE686434}"/>
              </a:ext>
            </a:extLst>
          </p:cNvPr>
          <p:cNvSpPr>
            <a:spLocks noGrp="1"/>
          </p:cNvSpPr>
          <p:nvPr>
            <p:ph idx="1"/>
          </p:nvPr>
        </p:nvSpPr>
        <p:spPr>
          <a:xfrm>
            <a:off x="838200" y="1296956"/>
            <a:ext cx="4483608" cy="4655976"/>
          </a:xfrm>
        </p:spPr>
        <p:txBody>
          <a:bodyPr>
            <a:normAutofit/>
          </a:bodyPr>
          <a:lstStyle/>
          <a:p>
            <a:pPr marL="0" indent="0">
              <a:buNone/>
            </a:pPr>
            <a:r>
              <a:rPr lang="en-US" sz="1400" dirty="0">
                <a:latin typeface="Candara" panose="020E0502030303020204" pitchFamily="34" charset="0"/>
              </a:rPr>
              <a:t>Probability of an increased rate in 3</a:t>
            </a:r>
            <a:r>
              <a:rPr lang="en-US" sz="1400" baseline="30000" dirty="0">
                <a:latin typeface="Candara" panose="020E0502030303020204" pitchFamily="34" charset="0"/>
              </a:rPr>
              <a:t>rd</a:t>
            </a:r>
            <a:r>
              <a:rPr lang="en-US" sz="1400" dirty="0">
                <a:latin typeface="Candara" panose="020E0502030303020204" pitchFamily="34" charset="0"/>
              </a:rPr>
              <a:t> day given an increased rate in 1</a:t>
            </a:r>
            <a:r>
              <a:rPr lang="en-US" sz="1400" baseline="30000" dirty="0">
                <a:latin typeface="Candara" panose="020E0502030303020204" pitchFamily="34" charset="0"/>
              </a:rPr>
              <a:t>st</a:t>
            </a:r>
            <a:r>
              <a:rPr lang="en-US" sz="1400" dirty="0">
                <a:latin typeface="Candara" panose="020E0502030303020204" pitchFamily="34" charset="0"/>
              </a:rPr>
              <a:t> and 2</a:t>
            </a:r>
            <a:r>
              <a:rPr lang="en-US" sz="1400" baseline="30000" dirty="0">
                <a:latin typeface="Candara" panose="020E0502030303020204" pitchFamily="34" charset="0"/>
              </a:rPr>
              <a:t>nd </a:t>
            </a:r>
            <a:r>
              <a:rPr lang="en-US" sz="1400" dirty="0">
                <a:latin typeface="Candara" panose="020E0502030303020204" pitchFamily="34" charset="0"/>
              </a:rPr>
              <a:t>day is 0.50.</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The probability of an increased rate on the third day, given that the rate increased on the previous two consecutive days, is 0.50. This indicates that even after observing two successive days of increases, there is no additional evidence of a continued upward movement on the following day. The probability remains almost equal to a random outcome, suggesting that a two-day increase pattern does not provide a reliable signal for predicting the next day's direction. Therefore, consecutive increases in USD to SEK rate do not appear to create any reliable momentum effect for the following day.</a:t>
            </a:r>
            <a:endParaRPr lang="en-US" sz="1400" i="1" dirty="0">
              <a:solidFill>
                <a:schemeClr val="bg1">
                  <a:lumMod val="50000"/>
                </a:schemeClr>
              </a:solidFill>
              <a:latin typeface="Candara" panose="020E0502030303020204" pitchFamily="34" charset="0"/>
            </a:endParaRPr>
          </a:p>
          <a:p>
            <a:pPr marL="0" indent="0">
              <a:buNone/>
            </a:pPr>
            <a:endParaRPr lang="en-US" sz="1400" i="1" dirty="0">
              <a:solidFill>
                <a:schemeClr val="bg1">
                  <a:lumMod val="50000"/>
                </a:schemeClr>
              </a:solidFill>
              <a:latin typeface="Candara" panose="020E0502030303020204" pitchFamily="34" charset="0"/>
            </a:endParaRPr>
          </a:p>
          <a:p>
            <a:pPr marL="0" indent="0">
              <a:buNone/>
            </a:pPr>
            <a:r>
              <a:rPr lang="en-US" sz="1400" i="1" dirty="0">
                <a:solidFill>
                  <a:schemeClr val="bg1">
                    <a:lumMod val="50000"/>
                  </a:schemeClr>
                </a:solidFill>
                <a:latin typeface="Candara" panose="020E0502030303020204" pitchFamily="34" charset="0"/>
              </a:rPr>
              <a:t>Script name: 9_prob_of_3</a:t>
            </a:r>
            <a:r>
              <a:rPr lang="en-US" sz="1400" i="1" baseline="30000" dirty="0">
                <a:solidFill>
                  <a:schemeClr val="bg1">
                    <a:lumMod val="50000"/>
                  </a:schemeClr>
                </a:solidFill>
                <a:latin typeface="Candara" panose="020E0502030303020204" pitchFamily="34" charset="0"/>
              </a:rPr>
              <a:t>rd</a:t>
            </a:r>
            <a:r>
              <a:rPr lang="en-US" sz="1400" i="1" dirty="0">
                <a:solidFill>
                  <a:schemeClr val="bg1">
                    <a:lumMod val="50000"/>
                  </a:schemeClr>
                </a:solidFill>
                <a:latin typeface="Candara" panose="020E0502030303020204" pitchFamily="34" charset="0"/>
              </a:rPr>
              <a:t>_day_rate_increase_given_1</a:t>
            </a:r>
            <a:r>
              <a:rPr lang="en-US" sz="1400" i="1" baseline="30000" dirty="0">
                <a:solidFill>
                  <a:schemeClr val="bg1">
                    <a:lumMod val="50000"/>
                  </a:schemeClr>
                </a:solidFill>
                <a:latin typeface="Candara" panose="020E0502030303020204" pitchFamily="34" charset="0"/>
              </a:rPr>
              <a:t>st</a:t>
            </a:r>
            <a:r>
              <a:rPr lang="en-US" sz="1400" i="1" dirty="0">
                <a:solidFill>
                  <a:schemeClr val="bg1">
                    <a:lumMod val="50000"/>
                  </a:schemeClr>
                </a:solidFill>
                <a:latin typeface="Candara" panose="020E0502030303020204" pitchFamily="34" charset="0"/>
              </a:rPr>
              <a:t>_and_2</a:t>
            </a:r>
            <a:r>
              <a:rPr lang="en-US" sz="1400" i="1" baseline="30000" dirty="0">
                <a:solidFill>
                  <a:schemeClr val="bg1">
                    <a:lumMod val="50000"/>
                  </a:schemeClr>
                </a:solidFill>
                <a:latin typeface="Candara" panose="020E0502030303020204" pitchFamily="34" charset="0"/>
              </a:rPr>
              <a:t>nd</a:t>
            </a:r>
            <a:r>
              <a:rPr lang="en-US" sz="1400" i="1" dirty="0">
                <a:solidFill>
                  <a:schemeClr val="bg1">
                    <a:lumMod val="50000"/>
                  </a:schemeClr>
                </a:solidFill>
                <a:latin typeface="Candara" panose="020E0502030303020204" pitchFamily="34" charset="0"/>
              </a:rPr>
              <a:t>_day_rate_increase</a:t>
            </a:r>
            <a:endParaRPr lang="en-US" dirty="0"/>
          </a:p>
        </p:txBody>
      </p:sp>
      <p:pic>
        <p:nvPicPr>
          <p:cNvPr id="12" name="Picture 11" descr="Probability and statistics hi-res stock photography and images - Alamy">
            <a:extLst>
              <a:ext uri="{FF2B5EF4-FFF2-40B4-BE49-F238E27FC236}">
                <a16:creationId xmlns:a16="http://schemas.microsoft.com/office/drawing/2014/main" id="{9C94724A-418E-D123-C11F-7F257DFEE493}"/>
              </a:ext>
            </a:extLst>
          </p:cNvPr>
          <p:cNvPicPr>
            <a:picLocks noChangeAspect="1"/>
          </p:cNvPicPr>
          <p:nvPr/>
        </p:nvPicPr>
        <p:blipFill>
          <a:blip r:embed="rId2"/>
          <a:stretch>
            <a:fillRect/>
          </a:stretch>
        </p:blipFill>
        <p:spPr>
          <a:xfrm>
            <a:off x="7018964" y="1514857"/>
            <a:ext cx="4334836" cy="3187772"/>
          </a:xfrm>
          <a:prstGeom prst="rect">
            <a:avLst/>
          </a:prstGeom>
        </p:spPr>
      </p:pic>
    </p:spTree>
    <p:extLst>
      <p:ext uri="{BB962C8B-B14F-4D97-AF65-F5344CB8AC3E}">
        <p14:creationId xmlns:p14="http://schemas.microsoft.com/office/powerpoint/2010/main" val="175815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EBA3E-C65D-76D8-6DC2-0A0260D4C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DD2A7-9D3E-0D50-8204-CF8263C3DC2A}"/>
              </a:ext>
            </a:extLst>
          </p:cNvPr>
          <p:cNvSpPr>
            <a:spLocks noGrp="1"/>
          </p:cNvSpPr>
          <p:nvPr>
            <p:ph type="title"/>
          </p:nvPr>
        </p:nvSpPr>
        <p:spPr>
          <a:xfrm>
            <a:off x="838200" y="365125"/>
            <a:ext cx="10515600" cy="819863"/>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Q10: What is the probability of a opposite direction change in USD to SEK rate on the 2nd day given that it changed substantially on 1st day?</a:t>
            </a:r>
          </a:p>
        </p:txBody>
      </p:sp>
      <p:sp>
        <p:nvSpPr>
          <p:cNvPr id="3" name="Content Placeholder 2">
            <a:extLst>
              <a:ext uri="{FF2B5EF4-FFF2-40B4-BE49-F238E27FC236}">
                <a16:creationId xmlns:a16="http://schemas.microsoft.com/office/drawing/2014/main" id="{63A8DE69-95B6-0617-FC4F-8E15C195379F}"/>
              </a:ext>
            </a:extLst>
          </p:cNvPr>
          <p:cNvSpPr>
            <a:spLocks noGrp="1"/>
          </p:cNvSpPr>
          <p:nvPr>
            <p:ph idx="1"/>
          </p:nvPr>
        </p:nvSpPr>
        <p:spPr>
          <a:xfrm>
            <a:off x="838201" y="1296955"/>
            <a:ext cx="4803648" cy="5094514"/>
          </a:xfrm>
        </p:spPr>
        <p:txBody>
          <a:bodyPr>
            <a:normAutofit/>
          </a:bodyPr>
          <a:lstStyle/>
          <a:p>
            <a:pPr marL="0" indent="0">
              <a:buNone/>
            </a:pPr>
            <a:r>
              <a:rPr lang="en-US" sz="1400" dirty="0">
                <a:latin typeface="Candara" panose="020E0502030303020204" pitchFamily="34" charset="0"/>
              </a:rPr>
              <a:t>Probability of a opposite direction change in USD to SEK rate on the 2nd day given that it changed substantially (absolute percentage change in 1 day greater than 0.5%) on 1</a:t>
            </a:r>
            <a:r>
              <a:rPr lang="en-US" sz="1400" baseline="30000" dirty="0">
                <a:latin typeface="Candara" panose="020E0502030303020204" pitchFamily="34" charset="0"/>
              </a:rPr>
              <a:t>st</a:t>
            </a:r>
            <a:r>
              <a:rPr lang="en-US" sz="1400" dirty="0">
                <a:latin typeface="Candara" panose="020E0502030303020204" pitchFamily="34" charset="0"/>
              </a:rPr>
              <a:t> day is 0.55.</a:t>
            </a:r>
          </a:p>
          <a:p>
            <a:pPr marL="0" indent="0">
              <a:buNone/>
            </a:pPr>
            <a:endParaRPr lang="en-US" sz="1400" dirty="0">
              <a:latin typeface="Candara" panose="020E0502030303020204" pitchFamily="34" charset="0"/>
            </a:endParaRPr>
          </a:p>
          <a:p>
            <a:pPr marL="0" indent="0">
              <a:buNone/>
            </a:pPr>
            <a:r>
              <a:rPr lang="en-US" sz="1400" dirty="0">
                <a:latin typeface="Candara" panose="020E0502030303020204" pitchFamily="34" charset="0"/>
              </a:rPr>
              <a:t>Comment:</a:t>
            </a:r>
          </a:p>
          <a:p>
            <a:pPr marL="0" indent="0">
              <a:buNone/>
            </a:pPr>
            <a:r>
              <a:rPr lang="en-US" sz="1400" dirty="0">
                <a:latin typeface="Candara" panose="020E0502030303020204" pitchFamily="34" charset="0"/>
              </a:rPr>
              <a:t>Given that the USD to SEK rate experienced a large movement (absolute percentage change in 1 day greater than 0.5%), the probability of a reversal on the following day is 0.55. This indicates that large daily movements are followed by an opposite movement slightly more often than not. </a:t>
            </a:r>
          </a:p>
          <a:p>
            <a:pPr marL="0" indent="0">
              <a:buNone/>
            </a:pPr>
            <a:r>
              <a:rPr lang="en-US" sz="1400" dirty="0">
                <a:latin typeface="Candara" panose="020E0502030303020204" pitchFamily="34" charset="0"/>
              </a:rPr>
              <a:t>However, since the probability is only slightly higher than 0.50, the evidence of a reversal pattern is weak. Therefore, a large movement may sometimes be followed by a correction, but it cannot be considered a reliable indicator for predicting the next day's direction. </a:t>
            </a:r>
          </a:p>
          <a:p>
            <a:pPr marL="0" indent="0">
              <a:buNone/>
            </a:pPr>
            <a:r>
              <a:rPr lang="en-US" sz="1400" dirty="0">
                <a:latin typeface="Candara" panose="020E0502030303020204" pitchFamily="34" charset="0"/>
              </a:rPr>
              <a:t>Actually, the result suggests that extreme daily changes show a slight tendency to reverse, but the pattern is not strong enough to support a consistent prediction rule.</a:t>
            </a:r>
          </a:p>
          <a:p>
            <a:pPr marL="0" indent="0">
              <a:buNone/>
            </a:pPr>
            <a:r>
              <a:rPr lang="en-US" sz="1400" i="1" dirty="0">
                <a:solidFill>
                  <a:schemeClr val="bg1">
                    <a:lumMod val="50000"/>
                  </a:schemeClr>
                </a:solidFill>
                <a:latin typeface="Candara" panose="020E0502030303020204" pitchFamily="34" charset="0"/>
              </a:rPr>
              <a:t>Script name: 10_prob_of_2nd_day_opposite_rate_change_given_1st_day_huge_rate_change</a:t>
            </a:r>
            <a:endParaRPr lang="en-US" dirty="0"/>
          </a:p>
        </p:txBody>
      </p:sp>
      <p:pic>
        <p:nvPicPr>
          <p:cNvPr id="4" name="Picture 3" descr="Up and down arrows icon black and white sign 47847346 Vector Art at Vecteezy">
            <a:extLst>
              <a:ext uri="{FF2B5EF4-FFF2-40B4-BE49-F238E27FC236}">
                <a16:creationId xmlns:a16="http://schemas.microsoft.com/office/drawing/2014/main" id="{ABECAE28-7B11-4A5C-8F5B-D6A5E0E24CBB}"/>
              </a:ext>
            </a:extLst>
          </p:cNvPr>
          <p:cNvPicPr>
            <a:picLocks noChangeAspect="1"/>
          </p:cNvPicPr>
          <p:nvPr/>
        </p:nvPicPr>
        <p:blipFill>
          <a:blip r:embed="rId2"/>
          <a:stretch>
            <a:fillRect/>
          </a:stretch>
        </p:blipFill>
        <p:spPr>
          <a:xfrm>
            <a:off x="7467289" y="1296955"/>
            <a:ext cx="3886511" cy="3886511"/>
          </a:xfrm>
          <a:prstGeom prst="rect">
            <a:avLst/>
          </a:prstGeom>
        </p:spPr>
      </p:pic>
    </p:spTree>
    <p:extLst>
      <p:ext uri="{BB962C8B-B14F-4D97-AF65-F5344CB8AC3E}">
        <p14:creationId xmlns:p14="http://schemas.microsoft.com/office/powerpoint/2010/main" val="1449044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0B06-3BC1-B69A-4B2B-982431161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2DB5A-C122-9871-396F-1C4A6DF64836}"/>
              </a:ext>
            </a:extLst>
          </p:cNvPr>
          <p:cNvSpPr>
            <a:spLocks noGrp="1"/>
          </p:cNvSpPr>
          <p:nvPr>
            <p:ph type="title"/>
          </p:nvPr>
        </p:nvSpPr>
        <p:spPr>
          <a:xfrm>
            <a:off x="838200" y="365125"/>
            <a:ext cx="10515600" cy="819863"/>
          </a:xfrm>
        </p:spPr>
        <p:txBody>
          <a:bodyPr>
            <a:normAutofit/>
          </a:bodyPr>
          <a:lstStyle/>
          <a:p>
            <a:pPr marL="0" marR="0">
              <a:lnSpc>
                <a:spcPct val="115000"/>
              </a:lnSpc>
              <a:spcAft>
                <a:spcPts val="800"/>
              </a:spcAft>
              <a:buNone/>
            </a:pPr>
            <a:r>
              <a:rPr lang="en-US" sz="1800" dirty="0">
                <a:solidFill>
                  <a:schemeClr val="accent1">
                    <a:lumMod val="50000"/>
                  </a:schemeClr>
                </a:solidFill>
                <a:latin typeface="Candara" panose="020E0502030303020204" pitchFamily="34" charset="0"/>
                <a:ea typeface="Cambria" panose="02040503050406030204" pitchFamily="18" charset="0"/>
              </a:rPr>
              <a:t>Further scope</a:t>
            </a:r>
          </a:p>
        </p:txBody>
      </p:sp>
      <p:sp>
        <p:nvSpPr>
          <p:cNvPr id="3" name="Content Placeholder 2">
            <a:extLst>
              <a:ext uri="{FF2B5EF4-FFF2-40B4-BE49-F238E27FC236}">
                <a16:creationId xmlns:a16="http://schemas.microsoft.com/office/drawing/2014/main" id="{EEABC73B-295A-D0B6-6251-31C7FD370FFF}"/>
              </a:ext>
            </a:extLst>
          </p:cNvPr>
          <p:cNvSpPr>
            <a:spLocks noGrp="1"/>
          </p:cNvSpPr>
          <p:nvPr>
            <p:ph idx="1"/>
          </p:nvPr>
        </p:nvSpPr>
        <p:spPr>
          <a:xfrm>
            <a:off x="838200" y="1296955"/>
            <a:ext cx="4900127" cy="5094514"/>
          </a:xfrm>
        </p:spPr>
        <p:txBody>
          <a:bodyPr>
            <a:normAutofit fontScale="70000" lnSpcReduction="20000"/>
          </a:bodyPr>
          <a:lstStyle/>
          <a:p>
            <a:pPr marL="0" indent="0">
              <a:buNone/>
            </a:pPr>
            <a:endParaRPr lang="en-US" dirty="0"/>
          </a:p>
          <a:p>
            <a:pPr marL="0" indent="0">
              <a:buNone/>
            </a:pPr>
            <a:r>
              <a:rPr lang="en-US" sz="2200" dirty="0">
                <a:latin typeface="Candara" panose="020E0502030303020204" pitchFamily="34" charset="0"/>
              </a:rPr>
              <a:t>Initially, the correlation between dollar index and USD to SEK exchange rate looked promising but it actually didn't lead to any reliable way of forecasting the exchange rate. The lag analysis was equally disappointing, revealing no consistent trend or predictive pattern. </a:t>
            </a:r>
          </a:p>
          <a:p>
            <a:pPr marL="0" indent="0">
              <a:buNone/>
            </a:pPr>
            <a:r>
              <a:rPr lang="en-US" sz="2200" dirty="0">
                <a:latin typeface="Candara" panose="020E0502030303020204" pitchFamily="34" charset="0"/>
              </a:rPr>
              <a:t>After trying different SQL queries and statistical analyses, I found the fact that, this dataset alone is simply not enough to uncover how the USD to SEK exchange rate behaves. That doesn't mean the search has to end here. </a:t>
            </a:r>
          </a:p>
          <a:p>
            <a:pPr marL="0" indent="0">
              <a:buNone/>
            </a:pPr>
            <a:r>
              <a:rPr lang="en-US" sz="2200" dirty="0">
                <a:latin typeface="Candara" panose="020E0502030303020204" pitchFamily="34" charset="0"/>
              </a:rPr>
              <a:t>If you are curious to explore further, you can expand the dataset by incorporating additional economic and market variables such as interest rates, inflation, crude oil prices, stock market indices, central bank policy decisions, and major geopolitical events. These factors may provide deeper insights into the complex forces influencing the USD to SEK exchange rate.</a:t>
            </a:r>
          </a:p>
          <a:p>
            <a:pPr marL="0" indent="0">
              <a:buNone/>
            </a:pPr>
            <a:r>
              <a:rPr lang="en-US" sz="2200" dirty="0">
                <a:latin typeface="Candara" panose="020E0502030303020204" pitchFamily="34" charset="0"/>
              </a:rPr>
              <a:t>Perhaps you will be the one who finally discovers a reliable way to forecast currency movements. If you uncover a hidden pattern, congratulations, you may have found something truly valuable. Now go get rich!</a:t>
            </a:r>
          </a:p>
        </p:txBody>
      </p:sp>
      <p:pic>
        <p:nvPicPr>
          <p:cNvPr id="5" name="Picture 4" descr="Scope icon. 3d illustration from performance collection. Creative ...">
            <a:extLst>
              <a:ext uri="{FF2B5EF4-FFF2-40B4-BE49-F238E27FC236}">
                <a16:creationId xmlns:a16="http://schemas.microsoft.com/office/drawing/2014/main" id="{15324C7A-C7E7-80C5-A684-BFD470A5DD99}"/>
              </a:ext>
            </a:extLst>
          </p:cNvPr>
          <p:cNvPicPr>
            <a:picLocks noChangeAspect="1"/>
          </p:cNvPicPr>
          <p:nvPr/>
        </p:nvPicPr>
        <p:blipFill>
          <a:blip r:embed="rId2"/>
          <a:stretch>
            <a:fillRect/>
          </a:stretch>
        </p:blipFill>
        <p:spPr>
          <a:xfrm>
            <a:off x="7021068" y="1310640"/>
            <a:ext cx="3962400" cy="4236720"/>
          </a:xfrm>
          <a:prstGeom prst="rect">
            <a:avLst/>
          </a:prstGeom>
        </p:spPr>
      </p:pic>
    </p:spTree>
    <p:extLst>
      <p:ext uri="{BB962C8B-B14F-4D97-AF65-F5344CB8AC3E}">
        <p14:creationId xmlns:p14="http://schemas.microsoft.com/office/powerpoint/2010/main" val="790509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2350</Words>
  <Application>Microsoft Office PowerPoint</Application>
  <PresentationFormat>Widescreen</PresentationFormat>
  <Paragraphs>137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Candara</vt:lpstr>
      <vt:lpstr>Office Theme</vt:lpstr>
      <vt:lpstr>Financial Analytics using SQL: Trend Detection, Correlation Analysis, and Exchange Rate Forecasting</vt:lpstr>
      <vt:lpstr>Source of data</vt:lpstr>
      <vt:lpstr>Joining 3 Dataset</vt:lpstr>
      <vt:lpstr>Missing Value Treatment</vt:lpstr>
      <vt:lpstr>Q1: Show the month-wise trend of the 3 indices.</vt:lpstr>
      <vt:lpstr>Q2: Find the severe fluctuations dates. Among the indices which index is the most volatile one? Which is the least?</vt:lpstr>
      <vt:lpstr>Q3: Is there any correlation between dollar index and USD to SEK rate?</vt:lpstr>
      <vt:lpstr>Q4: Is there any correlation between percentage change in dollar_index and percentage change in rate?</vt:lpstr>
      <vt:lpstr>Q5: Is there any correlation between percentage change in gold_price and percentage change in rate?</vt:lpstr>
      <vt:lpstr>Q6: Does yesterday's Dollar Index influence today's USD to SEK rate?</vt:lpstr>
      <vt:lpstr>Q7: Does yesterday's Gold Price influence today's USD to SEK rate?</vt:lpstr>
      <vt:lpstr>Q8: What is the probability that the USD to SEK rate increases on the 2nd day, given that it increased on the 1st day?</vt:lpstr>
      <vt:lpstr>Q9: What is the probability that the USD to SEK rate increases on the 3rd day, given that it increased on the 1st and 2nd day?</vt:lpstr>
      <vt:lpstr>Q10: What is the probability of a opposite direction change in USD to SEK rate on the 2nd day given that it changed substantially on 1st day?</vt:lpstr>
      <vt:lpstr>Further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Rehman</dc:creator>
  <cp:lastModifiedBy>Rahul Rehman</cp:lastModifiedBy>
  <cp:revision>13</cp:revision>
  <dcterms:created xsi:type="dcterms:W3CDTF">2026-07-13T12:07:24Z</dcterms:created>
  <dcterms:modified xsi:type="dcterms:W3CDTF">2026-09-13T04:35:32Z</dcterms:modified>
</cp:coreProperties>
</file>